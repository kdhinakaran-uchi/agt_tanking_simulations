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94960"/>
            <a:ext cx="457200" cy="146304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5394960"/>
            <a:ext cx="2011680" cy="1463040"/>
          </a:xfrm>
          <a:prstGeom prst="rect">
            <a:avLst/>
          </a:prstGeom>
          <a:solidFill>
            <a:srgbClr val="264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280160"/>
            <a:ext cx="10515600" cy="1554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Aligning Incentives in the NBA Draft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834640"/>
            <a:ext cx="5943600" cy="54864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3017520"/>
            <a:ext cx="960120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0" i="0">
                <a:solidFill>
                  <a:srgbClr val="B0BED4"/>
                </a:solidFill>
                <a:latin typeface="Calibri"/>
              </a:rPr>
              <a:t>A Multi-Agent Simulation of Mechanism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93192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 i="0">
                <a:solidFill>
                  <a:srgbClr val="CCD6E4"/>
                </a:solidFill>
                <a:latin typeface="Calibri"/>
              </a:rPr>
              <a:t>Grant Valentine  &amp;  Kartik Dhinakaran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43484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8096AF"/>
                </a:solidFill>
                <a:latin typeface="Calibri"/>
              </a:rPr>
              <a:t>Topics in Algorithmic Game Theory  |  May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5303520"/>
            <a:ext cx="685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200" b="1" i="0">
                <a:solidFill>
                  <a:srgbClr val="E63946"/>
                </a:solidFill>
                <a:latin typeface="Calibri"/>
              </a:rPr>
              <a:t>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5669280"/>
            <a:ext cx="685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90A4BD"/>
                </a:solidFill>
                <a:latin typeface="Calibri"/>
              </a:rPr>
              <a:t>Teams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0" y="5303520"/>
            <a:ext cx="685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200" b="1" i="0">
                <a:solidFill>
                  <a:srgbClr val="E63946"/>
                </a:solidFill>
                <a:latin typeface="Calibri"/>
              </a:rPr>
              <a:t>82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5669280"/>
            <a:ext cx="685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90A4BD"/>
                </a:solidFill>
                <a:latin typeface="Calibri"/>
              </a:rPr>
              <a:t>Games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5303520"/>
            <a:ext cx="685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200" b="1" i="0">
                <a:solidFill>
                  <a:srgbClr val="E63946"/>
                </a:solidFill>
                <a:latin typeface="Calibri"/>
              </a:rPr>
              <a:t>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0" y="5669280"/>
            <a:ext cx="685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90A4BD"/>
                </a:solidFill>
                <a:latin typeface="Calibri"/>
              </a:rPr>
              <a:t>Seasons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21440" y="5303520"/>
            <a:ext cx="685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200" b="1" i="0">
                <a:solidFill>
                  <a:srgbClr val="E63946"/>
                </a:solidFill>
                <a:latin typeface="Calibri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521440" y="5669280"/>
            <a:ext cx="685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90A4BD"/>
                </a:solidFill>
                <a:latin typeface="Calibri"/>
              </a:rPr>
              <a:t>Mechanisms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88952" cy="73152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90A4BD"/>
                </a:solidFill>
                <a:latin typeface="Calibri"/>
              </a:rPr>
              <a:t>SECTION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0584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What Is Tanking?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9184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 i="0">
                <a:solidFill>
                  <a:srgbClr val="B0BED4"/>
                </a:solidFill>
                <a:latin typeface="Calibri"/>
              </a:rPr>
              <a:t>The incentive problem and its history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96012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" y="82296"/>
            <a:ext cx="116128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What Is Tanking?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43000"/>
            <a:ext cx="53035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 i="0">
                <a:solidFill>
                  <a:srgbClr val="1B3A6B"/>
                </a:solidFill>
                <a:latin typeface="Calibri"/>
              </a:rPr>
              <a:t>The Incentive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600200"/>
            <a:ext cx="5394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700" b="0">
                <a:solidFill>
                  <a:srgbClr val="1A1A2E"/>
                </a:solidFill>
                <a:latin typeface="Calibri"/>
              </a:rPr>
              <a:t>▸ Tanking = deliberately losing games to improve future draft position</a:t>
            </a:r>
          </a:p>
          <a:p>
            <a:pPr>
              <a:spcBef>
                <a:spcPts val="700"/>
              </a:spcBef>
            </a:pPr>
            <a:r>
              <a:rPr sz="1700" b="0">
                <a:solidFill>
                  <a:srgbClr val="1A1A2E"/>
                </a:solidFill>
                <a:latin typeface="Calibri"/>
              </a:rPr>
              <a:t>▸ NBA Draft Lottery: worse record → more ping-pong balls → better odds</a:t>
            </a:r>
          </a:p>
          <a:p>
            <a:r>
              <a:rPr sz="800"/>
              <a:t> </a:t>
            </a:r>
          </a:p>
          <a:p>
            <a:pPr>
              <a:spcBef>
                <a:spcPts val="700"/>
              </a:spcBef>
            </a:pPr>
            <a:r>
              <a:rPr sz="1700" b="0">
                <a:solidFill>
                  <a:srgbClr val="1A1A2E"/>
                </a:solidFill>
                <a:latin typeface="Calibri"/>
              </a:rPr>
              <a:t>▸ A team faces a binary season: compete for playoffs, or lose for picks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555555"/>
                </a:solidFill>
                <a:latin typeface="Calibri"/>
              </a:rPr>
              <a:t>  – When playoff odds fall below a threshold, tanking becomes individually rational</a:t>
            </a:r>
          </a:p>
          <a:p>
            <a:r>
              <a:rPr sz="800"/>
              <a:t> </a:t>
            </a:r>
          </a:p>
          <a:p>
            <a:pPr>
              <a:spcBef>
                <a:spcPts val="700"/>
              </a:spcBef>
            </a:pPr>
            <a:r>
              <a:rPr sz="1700" b="1">
                <a:solidFill>
                  <a:srgbClr val="1A1A2E"/>
                </a:solidFill>
                <a:latin typeface="Calibri"/>
              </a:rPr>
              <a:t>▸ Not a moral failing — a structural game-theory problem</a:t>
            </a:r>
          </a:p>
        </p:txBody>
      </p:sp>
      <p:sp>
        <p:nvSpPr>
          <p:cNvPr id="7" name="Rectangle 6"/>
          <p:cNvSpPr/>
          <p:nvPr/>
        </p:nvSpPr>
        <p:spPr>
          <a:xfrm>
            <a:off x="6263640" y="1005840"/>
            <a:ext cx="5577840" cy="576072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143000"/>
            <a:ext cx="53949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 i="0">
                <a:solidFill>
                  <a:srgbClr val="1B3A6B"/>
                </a:solidFill>
                <a:latin typeface="Calibri"/>
              </a:rPr>
              <a:t>The Expected-Utility Tradeoff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645920"/>
            <a:ext cx="539496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1A1A2E"/>
                </a:solidFill>
                <a:latin typeface="Calibri"/>
              </a:rPr>
              <a:t>𝔼[U] = p_playoff · V + (1 − p_playoff) · 𝔼[D(k)]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560320"/>
            <a:ext cx="5394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600" b="0">
                <a:solidFill>
                  <a:srgbClr val="1A1A2E"/>
                </a:solidFill>
                <a:latin typeface="Calibri"/>
              </a:rPr>
              <a:t>▸ V = value of a playoff berth (revenue, prestige, competitive stature)</a:t>
            </a:r>
          </a:p>
          <a:p>
            <a:pPr>
              <a:spcBef>
                <a:spcPts val="700"/>
              </a:spcBef>
            </a:pPr>
            <a:r>
              <a:rPr sz="1600" b="0">
                <a:solidFill>
                  <a:srgbClr val="1A1A2E"/>
                </a:solidFill>
                <a:latin typeface="Calibri"/>
              </a:rPr>
              <a:t>▸ D(k) = value of draft pick #k  (k=1 → $100 pts, falls to 3 pts at k=14)</a:t>
            </a:r>
          </a:p>
          <a:p>
            <a:r>
              <a:rPr sz="800"/>
              <a:t> </a:t>
            </a:r>
          </a:p>
          <a:p>
            <a:pPr>
              <a:spcBef>
                <a:spcPts val="700"/>
              </a:spcBef>
            </a:pPr>
            <a:r>
              <a:rPr sz="1600" b="0">
                <a:solidFill>
                  <a:srgbClr val="1A1A2E"/>
                </a:solidFill>
                <a:latin typeface="Calibri"/>
              </a:rPr>
              <a:t>▸ Tanking is rational when: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555555"/>
                </a:solidFill>
                <a:latin typeface="Calibri"/>
              </a:rPr>
              <a:t>  – ΔE[D(k)] from extra losses  &gt;  V · Δp_playoff lost</a:t>
            </a:r>
          </a:p>
          <a:p>
            <a:r>
              <a:rPr sz="800"/>
              <a:t> </a:t>
            </a:r>
          </a:p>
          <a:p>
            <a:pPr>
              <a:spcBef>
                <a:spcPts val="700"/>
              </a:spcBef>
            </a:pPr>
            <a:r>
              <a:rPr sz="1600" b="0">
                <a:solidFill>
                  <a:srgbClr val="1A1A2E"/>
                </a:solidFill>
                <a:latin typeface="Calibri"/>
              </a:rPr>
              <a:t>▸ This tradeoff exists for SOME team under ANY weighted lottery  (Banchio &amp; Munro 2020)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96012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" y="82296"/>
            <a:ext cx="116128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A Brief History of Tanking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594360"/>
            <a:ext cx="11612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B0BED4"/>
                </a:solidFill>
                <a:latin typeface="Calibri"/>
              </a:rPr>
              <a:t>The incentive has been present since the first draft lottery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143000"/>
            <a:ext cx="27432" cy="521208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02920" y="1234440"/>
            <a:ext cx="201168" cy="201168"/>
          </a:xfrm>
          <a:prstGeom prst="ellipse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188720"/>
            <a:ext cx="640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E63946"/>
                </a:solidFill>
                <a:latin typeface="Calibri"/>
              </a:rPr>
              <a:t>1983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188720"/>
            <a:ext cx="10515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1A1A2E"/>
                </a:solidFill>
                <a:latin typeface="Calibri"/>
              </a:rPr>
              <a:t>Houston Rockets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490472"/>
            <a:ext cx="103327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555555"/>
                </a:solidFill>
                <a:latin typeface="Calibri"/>
              </a:rPr>
              <a:t>Deliberately underperform late-season to secure #1 pick (Ralph Sampson). NBA notices.</a:t>
            </a:r>
          </a:p>
        </p:txBody>
      </p:sp>
      <p:sp>
        <p:nvSpPr>
          <p:cNvPr id="11" name="Oval 10"/>
          <p:cNvSpPr/>
          <p:nvPr/>
        </p:nvSpPr>
        <p:spPr>
          <a:xfrm>
            <a:off x="502920" y="2258568"/>
            <a:ext cx="201168" cy="201168"/>
          </a:xfrm>
          <a:prstGeom prst="ellipse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212848"/>
            <a:ext cx="640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2196F3"/>
                </a:solidFill>
                <a:latin typeface="Calibri"/>
              </a:rPr>
              <a:t>1985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2212848"/>
            <a:ext cx="10515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1A1A2E"/>
                </a:solidFill>
                <a:latin typeface="Calibri"/>
              </a:rPr>
              <a:t>NBA introduces the lottery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2514600"/>
            <a:ext cx="103327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555555"/>
                </a:solidFill>
                <a:latin typeface="Calibri"/>
              </a:rPr>
              <a:t>Equal odds for all non-playoff teams. Conspiracy: 'frozen envelope' lets Knicks land Patrick Ewing.</a:t>
            </a:r>
          </a:p>
        </p:txBody>
      </p:sp>
      <p:sp>
        <p:nvSpPr>
          <p:cNvPr id="15" name="Oval 14"/>
          <p:cNvSpPr/>
          <p:nvPr/>
        </p:nvSpPr>
        <p:spPr>
          <a:xfrm>
            <a:off x="502920" y="3282696"/>
            <a:ext cx="201168" cy="201168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236976"/>
            <a:ext cx="640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4CAF50"/>
                </a:solidFill>
                <a:latin typeface="Calibri"/>
              </a:rPr>
              <a:t>1990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3236976"/>
            <a:ext cx="10515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1A1A2E"/>
                </a:solidFill>
                <a:latin typeface="Calibri"/>
              </a:rPr>
              <a:t>Weighted lottery introduced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3538728"/>
            <a:ext cx="103327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555555"/>
                </a:solidFill>
                <a:latin typeface="Calibri"/>
              </a:rPr>
              <a:t>Worst team gets 16.7% odds. Taylor &amp; Trogdon (2002): eliminated teams lose 2.2× more than expected.</a:t>
            </a:r>
          </a:p>
        </p:txBody>
      </p:sp>
      <p:sp>
        <p:nvSpPr>
          <p:cNvPr id="19" name="Oval 18"/>
          <p:cNvSpPr/>
          <p:nvPr/>
        </p:nvSpPr>
        <p:spPr>
          <a:xfrm>
            <a:off x="502920" y="4306824"/>
            <a:ext cx="201168" cy="201168"/>
          </a:xfrm>
          <a:prstGeom prst="ellipse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261104"/>
            <a:ext cx="640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FF9800"/>
                </a:solidFill>
                <a:latin typeface="Calibri"/>
              </a:rPr>
              <a:t>2013–16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4261104"/>
            <a:ext cx="10515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1A1A2E"/>
                </a:solidFill>
                <a:latin typeface="Calibri"/>
              </a:rPr>
              <a:t>Sam Hinkie's 'The Process'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4562856"/>
            <a:ext cx="103327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555555"/>
                </a:solidFill>
                <a:latin typeface="Calibri"/>
              </a:rPr>
              <a:t>76ers stockpile picks across 3 seasons. Hinkie forced out. League-wide imitation follows.</a:t>
            </a:r>
          </a:p>
        </p:txBody>
      </p:sp>
      <p:sp>
        <p:nvSpPr>
          <p:cNvPr id="23" name="Oval 22"/>
          <p:cNvSpPr/>
          <p:nvPr/>
        </p:nvSpPr>
        <p:spPr>
          <a:xfrm>
            <a:off x="502920" y="5330952"/>
            <a:ext cx="201168" cy="201168"/>
          </a:xfrm>
          <a:prstGeom prst="ellipse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285232"/>
            <a:ext cx="640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9C27B0"/>
                </a:solidFill>
                <a:latin typeface="Calibri"/>
              </a:rPr>
              <a:t>2019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00200" y="5285232"/>
            <a:ext cx="10515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1A1A2E"/>
                </a:solidFill>
                <a:latin typeface="Calibri"/>
              </a:rPr>
              <a:t>NBA flattens top-3 odds to 14% each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00200" y="5586984"/>
            <a:ext cx="103327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555555"/>
                </a:solidFill>
                <a:latin typeface="Calibri"/>
              </a:rPr>
              <a:t>Intended to reduce tanking. Instead: displaces incentive to picks #4–7. Tanking continues.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96012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" y="82296"/>
            <a:ext cx="116128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NBA Lottery Reforms: A Cycle of Displacement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594360"/>
            <a:ext cx="11612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B0BED4"/>
                </a:solidFill>
                <a:latin typeface="Calibri"/>
              </a:rPr>
              <a:t>Each reform reduces tanking in one place and creates it somewhere else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051560"/>
            <a:ext cx="2103120" cy="2286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280160"/>
            <a:ext cx="2103120" cy="3886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8" y="1325880"/>
            <a:ext cx="1920240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1B3A6B"/>
                </a:solidFill>
                <a:latin typeface="Calibri"/>
              </a:rPr>
              <a:t>1985
Equal odds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" y="1965960"/>
            <a:ext cx="1920240" cy="3017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All 7 non-playoff teams have identical odds.
Eliminates race-to-bottom, creates race to non-playoffs.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79192" y="1051560"/>
            <a:ext cx="2103120" cy="2286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679192" y="1280160"/>
            <a:ext cx="2103120" cy="3886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1325880"/>
            <a:ext cx="1920240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1B3A6B"/>
                </a:solidFill>
                <a:latin typeface="Calibri"/>
              </a:rPr>
              <a:t>1990
Weighted odds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1965960"/>
            <a:ext cx="1920240" cy="3017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Worst team: 16.7% at #1 pick.
Reintroduces tanking incentive, now concentrated at absolute bottom.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46904" y="1051560"/>
            <a:ext cx="2103120" cy="2286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946904" y="1280160"/>
            <a:ext cx="2103120" cy="3886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56632" y="1325880"/>
            <a:ext cx="1920240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1B3A6B"/>
                </a:solidFill>
                <a:latin typeface="Calibri"/>
              </a:rPr>
              <a:t>1994
More weighting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56632" y="1965960"/>
            <a:ext cx="1920240" cy="3017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Worst team: 25% at #1 pick.
Tanking value even higher for the very worst team.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14616" y="1051560"/>
            <a:ext cx="2103120" cy="228600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214616" y="1280160"/>
            <a:ext cx="2103120" cy="3886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24344" y="1325880"/>
            <a:ext cx="1920240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1B3A6B"/>
                </a:solidFill>
                <a:latin typeface="Calibri"/>
              </a:rPr>
              <a:t>2019
Flattened top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24344" y="1965960"/>
            <a:ext cx="1920240" cy="3017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Top-3 teams each get 14% at #1 pick.
Displaces incentive to positions 4–7. Tanking persists.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482328" y="1051560"/>
            <a:ext cx="2103120" cy="2286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482328" y="1280160"/>
            <a:ext cx="2103120" cy="3886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92056" y="1325880"/>
            <a:ext cx="1920240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1B3A6B"/>
                </a:solidFill>
                <a:latin typeface="Calibri"/>
              </a:rPr>
              <a:t>2026
3-2-1 proposal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92056" y="1965960"/>
            <a:ext cx="1920240" cy="3017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Bottom 3 get fewer balls than teams ranked 4–14.
Our research tests whether this inverts the incentive.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96012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" y="82296"/>
            <a:ext cx="116128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Why Reforms Keep Failing: The Banchio Impossibility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594360"/>
            <a:ext cx="11612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B0BED4"/>
                </a:solidFill>
                <a:latin typeface="Calibri"/>
              </a:rPr>
              <a:t>Banchio &amp; Munro (2020), Theorem 1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097280"/>
            <a:ext cx="11338560" cy="2103120"/>
          </a:xfrm>
          <a:prstGeom prst="rect">
            <a:avLst/>
          </a:prstGeom>
          <a:solidFill>
            <a:srgbClr val="E8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097280"/>
            <a:ext cx="64008" cy="21031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18872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1" i="0">
                <a:solidFill>
                  <a:srgbClr val="1B3A6B"/>
                </a:solidFill>
                <a:latin typeface="Calibri"/>
              </a:rPr>
              <a:t>Theorem 1 (Banchio &amp; Munro 2020)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600200"/>
            <a:ext cx="109728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 i="0">
                <a:solidFill>
                  <a:srgbClr val="1A1A2E"/>
                </a:solidFill>
                <a:latin typeface="Calibri"/>
              </a:rPr>
              <a:t>Any draft mechanism that (a) allocates picks based solely on end-of-season standings and (b) does not treat all non-playoff teams identically, will give some team an incentive to lose in some possible season history.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3337560"/>
            <a:ext cx="113385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600" b="1">
                <a:solidFill>
                  <a:srgbClr val="1A1A2E"/>
                </a:solidFill>
                <a:latin typeface="Calibri"/>
              </a:rPr>
              <a:t>▸ Proof by contradiction: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555555"/>
                </a:solidFill>
                <a:latin typeface="Calibri"/>
              </a:rPr>
              <a:t>  – If mechanism favors worse records and isn't flat, ∃ a rank where one more loss improves lottery odds by more than it costs in playoff probability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555555"/>
                </a:solidFill>
                <a:latin typeface="Calibri"/>
              </a:rPr>
              <a:t>  – No parameter choice fixes this — it is structural, not parametric</a:t>
            </a:r>
          </a:p>
          <a:p>
            <a:r>
              <a:rPr sz="800"/>
              <a:t> 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1A1A2E"/>
                </a:solidFill>
                <a:latin typeface="Calibri"/>
              </a:rPr>
              <a:t>▸ Implication: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555555"/>
                </a:solidFill>
                <a:latin typeface="Calibri"/>
              </a:rPr>
              <a:t>  – No tweak to the current odds table can eliminate tanking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555555"/>
                </a:solidFill>
                <a:latin typeface="Calibri"/>
              </a:rPr>
              <a:t>  – The only escape routes: (1) lock in standings mid-season, or (2) equal odds (destroys redistribution), or (3) break the standings → lottery link entirely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88952" cy="73152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90A4BD"/>
                </a:solidFill>
                <a:latin typeface="Calibri"/>
              </a:rPr>
              <a:t>SECTION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0584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The Formal Model &amp; Proposals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9184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 i="0">
                <a:solidFill>
                  <a:srgbClr val="B0BED4"/>
                </a:solidFill>
                <a:latin typeface="Calibri"/>
              </a:rPr>
              <a:t>Five mechanisms + the math behind agent decisions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96012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" y="82296"/>
            <a:ext cx="116128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Formal Model: League 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56692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600" b="1">
                <a:solidFill>
                  <a:srgbClr val="1A1A2E"/>
                </a:solidFill>
                <a:latin typeface="Calibri"/>
              </a:rPr>
              <a:t>▸ Teams &amp; Skills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555555"/>
                </a:solidFill>
                <a:latin typeface="Calibri"/>
              </a:rPr>
              <a:t>  – n = 30 teams, each with true skill αᵢ ~ LogNormal(0, 0.3)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555555"/>
                </a:solidFill>
                <a:latin typeface="Calibri"/>
              </a:rPr>
              <a:t>  – Skills evolve: mean reversion + draft pick quality boost</a:t>
            </a:r>
          </a:p>
          <a:p>
            <a:r>
              <a:rPr sz="800"/>
              <a:t> </a:t>
            </a:r>
          </a:p>
          <a:p>
            <a:pPr>
              <a:spcBef>
                <a:spcPts val="500"/>
              </a:spcBef>
            </a:pPr>
            <a:r>
              <a:rPr sz="1600" b="1">
                <a:solidFill>
                  <a:srgbClr val="1A1A2E"/>
                </a:solidFill>
                <a:latin typeface="Calibri"/>
              </a:rPr>
              <a:t>▸ Season Structure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555555"/>
                </a:solidFill>
                <a:latin typeface="Calibri"/>
              </a:rPr>
              <a:t>  – G = 82 games per team (balanced round-robin schedule)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555555"/>
                </a:solidFill>
                <a:latin typeface="Calibri"/>
              </a:rPr>
              <a:t>  – Top P = 16 teams by wins → playoffs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555555"/>
                </a:solidFill>
                <a:latin typeface="Calibri"/>
              </a:rPr>
              <a:t>  – Bottom L = 14 teams → draft lottery</a:t>
            </a:r>
          </a:p>
          <a:p>
            <a:r>
              <a:rPr sz="800"/>
              <a:t> </a:t>
            </a:r>
          </a:p>
          <a:p>
            <a:pPr>
              <a:spcBef>
                <a:spcPts val="500"/>
              </a:spcBef>
            </a:pPr>
            <a:r>
              <a:rPr sz="1600" b="1">
                <a:solidFill>
                  <a:srgbClr val="1A1A2E"/>
                </a:solidFill>
                <a:latin typeface="Calibri"/>
              </a:rPr>
              <a:t>▸ Win Probability  (Bradley–Terry with effort floor)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555555"/>
                </a:solidFill>
                <a:latin typeface="Calibri"/>
              </a:rPr>
              <a:t>  – P(A beats B) = (αA · effA) / (αA · effA + αB · effB)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555555"/>
                </a:solidFill>
                <a:latin typeface="Calibri"/>
              </a:rPr>
              <a:t>  – eff = 0.3 + 0.7 · e  →  even at e = 0, team plays at 30% strength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555555"/>
                </a:solidFill>
                <a:latin typeface="Calibri"/>
              </a:rPr>
              <a:t>  – Floor δ = 0.3: teams cannot perfectly throw a game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1005840"/>
            <a:ext cx="5532120" cy="580644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051560"/>
            <a:ext cx="5394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600" b="1">
                <a:solidFill>
                  <a:srgbClr val="1A1A2E"/>
                </a:solidFill>
                <a:latin typeface="Calibri"/>
              </a:rPr>
              <a:t>▸ Agent Decisions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555555"/>
                </a:solidFill>
                <a:latin typeface="Calibri"/>
              </a:rPr>
              <a:t>  – Effort e ∈ {0, 0.25, 0.5, 0.75, 1.0} (discrete grid)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555555"/>
                </a:solidFill>
                <a:latin typeface="Calibri"/>
              </a:rPr>
              <a:t>  – Decision at 8 checkpoints per season (every 10 games)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555555"/>
                </a:solidFill>
                <a:latin typeface="Calibri"/>
              </a:rPr>
              <a:t>  – e &lt; 0.5 = tanking decision</a:t>
            </a:r>
          </a:p>
          <a:p>
            <a:r>
              <a:rPr sz="800"/>
              <a:t> </a:t>
            </a:r>
          </a:p>
          <a:p>
            <a:pPr>
              <a:spcBef>
                <a:spcPts val="500"/>
              </a:spcBef>
            </a:pPr>
            <a:r>
              <a:rPr sz="1600" b="1">
                <a:solidFill>
                  <a:srgbClr val="1A1A2E"/>
                </a:solidFill>
                <a:latin typeface="Calibri"/>
              </a:rPr>
              <a:t>▸ Utility Function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555555"/>
                </a:solidFill>
                <a:latin typeface="Calibri"/>
              </a:rPr>
              <a:t>  – U = V  if team makes playoffs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555555"/>
                </a:solidFill>
                <a:latin typeface="Calibri"/>
              </a:rPr>
              <a:t>  – U = E[D(k)]  otherwise  (expected pick value from lottery)</a:t>
            </a:r>
          </a:p>
          <a:p>
            <a:r>
              <a:rPr sz="800"/>
              <a:t> </a:t>
            </a:r>
          </a:p>
          <a:p>
            <a:pPr>
              <a:spcBef>
                <a:spcPts val="500"/>
              </a:spcBef>
            </a:pPr>
            <a:r>
              <a:rPr sz="1600" b="1">
                <a:solidFill>
                  <a:srgbClr val="1A1A2E"/>
                </a:solidFill>
                <a:latin typeface="Calibri"/>
              </a:rPr>
              <a:t>▸ Payoff Calibration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555555"/>
                </a:solidFill>
                <a:latin typeface="Calibri"/>
              </a:rPr>
              <a:t>  – V = 200  (playoff &gt;&gt; any single lottery pick)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555555"/>
                </a:solidFill>
                <a:latin typeface="Calibri"/>
              </a:rPr>
              <a:t>  – D(1)=100, D(2)=65, D(3)=45, ... D(14)=3  pts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555555"/>
                </a:solidFill>
                <a:latin typeface="Calibri"/>
              </a:rPr>
              <a:t>  – Calibration: consistent with u(playoffs) &gt;&gt; u(picks) (Kazachkov 2020)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96012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" y="82296"/>
            <a:ext cx="116128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When Is Tanking Individually Rational?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97280"/>
            <a:ext cx="11338560" cy="1554480"/>
          </a:xfrm>
          <a:prstGeom prst="rect">
            <a:avLst/>
          </a:prstGeom>
          <a:solidFill>
            <a:srgbClr val="E8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097280"/>
            <a:ext cx="64008" cy="155448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170432"/>
            <a:ext cx="109728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1B3A6B"/>
                </a:solidFill>
                <a:latin typeface="Calibri"/>
              </a:rPr>
              <a:t>Expected utility comparison (at a checkpoint):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00200"/>
            <a:ext cx="10972800" cy="8686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 i="0">
                <a:solidFill>
                  <a:srgbClr val="1A1A2E"/>
                </a:solidFill>
                <a:latin typeface="Calibri"/>
              </a:rPr>
              <a:t>𝔼[U | compete] = p_playoff(e=1) · V + (1−p_playoff(e=1)) · 𝔼[D(k) | rank_compete]
𝔼[U | tank]    = p_playoff(e=0) · V + (1−p_playoff(e=0)) · 𝔼[D(k) | rank_tank]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788920"/>
            <a:ext cx="113385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600" b="1">
                <a:solidFill>
                  <a:srgbClr val="1A1A2E"/>
                </a:solidFill>
                <a:latin typeface="Calibri"/>
              </a:rPr>
              <a:t>▸ Rational agent tanks when: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555555"/>
                </a:solidFill>
                <a:latin typeface="Calibri"/>
              </a:rPr>
              <a:t>  – The playoff probability with e=1 is negligibly small (team is out of contention)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555555"/>
                </a:solidFill>
                <a:latin typeface="Calibri"/>
              </a:rPr>
              <a:t>  – AND the lottery rank improvement from e=0 meaningfully raises E[D(k)]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555555"/>
                </a:solidFill>
                <a:latin typeface="Calibri"/>
              </a:rPr>
              <a:t>  – This is NOT a binary threshold — we compute the normal-approximation p_playoff continuously</a:t>
            </a:r>
          </a:p>
          <a:p>
            <a:r>
              <a:rPr sz="800"/>
              <a:t> </a:t>
            </a:r>
          </a:p>
          <a:p>
            <a:pPr>
              <a:spcBef>
                <a:spcPts val="500"/>
              </a:spcBef>
            </a:pPr>
            <a:r>
              <a:rPr sz="1600" b="1">
                <a:solidFill>
                  <a:srgbClr val="1A1A2E"/>
                </a:solidFill>
                <a:latin typeface="Calibri"/>
              </a:rPr>
              <a:t>▸ Key calibration insight: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555555"/>
                </a:solidFill>
                <a:latin typeface="Calibri"/>
              </a:rPr>
              <a:t>  – With V = 200: E[D(k)] across all lottery slots averages ~24 pts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555555"/>
                </a:solidFill>
                <a:latin typeface="Calibri"/>
              </a:rPr>
              <a:t>  – Even pick #1 (100 pts at 14% odds) has expected value ≈ 14 pts &lt; &lt; 200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555555"/>
                </a:solidFill>
                <a:latin typeface="Calibri"/>
              </a:rPr>
              <a:t>  – Tanking is only rational when p_playoff is truly negligible (&lt; ~5%)</a:t>
            </a:r>
          </a:p>
          <a:p>
            <a:r>
              <a:rPr sz="800"/>
              <a:t> </a:t>
            </a:r>
          </a:p>
          <a:p>
            <a:pPr>
              <a:spcBef>
                <a:spcPts val="500"/>
              </a:spcBef>
            </a:pPr>
            <a:r>
              <a:rPr sz="1600" b="1">
                <a:solidFill>
                  <a:srgbClr val="1A1A2E"/>
                </a:solidFill>
                <a:latin typeface="Calibri"/>
              </a:rPr>
              <a:t>▸ Concentration of tanking decisions (our simulation):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555555"/>
                </a:solidFill>
                <a:latin typeface="Calibri"/>
              </a:rPr>
              <a:t>  – 76% of tanking decisions: team ranked 21st or worse (deep lottery)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555555"/>
                </a:solidFill>
                <a:latin typeface="Calibri"/>
              </a:rPr>
              <a:t>  – 16% of tanking decisions: team ranked 13–20 (near bubble but behind)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555555"/>
                </a:solidFill>
                <a:latin typeface="Calibri"/>
              </a:rPr>
              <a:t>  – Teams in playoff position essentially never tank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96012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" y="82296"/>
            <a:ext cx="116128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Five Mechanisms Under Study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51560"/>
            <a:ext cx="1920240" cy="43891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3192" y="1106424"/>
            <a:ext cx="18288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Mechanism</a:t>
            </a:r>
          </a:p>
        </p:txBody>
      </p:sp>
      <p:sp>
        <p:nvSpPr>
          <p:cNvPr id="7" name="Rectangle 6"/>
          <p:cNvSpPr/>
          <p:nvPr/>
        </p:nvSpPr>
        <p:spPr>
          <a:xfrm>
            <a:off x="2240280" y="1051560"/>
            <a:ext cx="2377440" cy="43891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13432" y="1106424"/>
            <a:ext cx="22860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Lottery Basis</a:t>
            </a:r>
          </a:p>
        </p:txBody>
      </p:sp>
      <p:sp>
        <p:nvSpPr>
          <p:cNvPr id="9" name="Rectangle 8"/>
          <p:cNvSpPr/>
          <p:nvPr/>
        </p:nvSpPr>
        <p:spPr>
          <a:xfrm>
            <a:off x="4617720" y="1051560"/>
            <a:ext cx="3840480" cy="43891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90872" y="1106424"/>
            <a:ext cx="374904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How It Addresses Tanking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58200" y="1051560"/>
            <a:ext cx="3474720" cy="43891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31352" y="1106424"/>
            <a:ext cx="338328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Theoretical Guarantee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490472"/>
            <a:ext cx="1920240" cy="749808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1490472"/>
            <a:ext cx="54864" cy="749808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" y="1545336"/>
            <a:ext cx="1755648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1B3A6B"/>
                </a:solidFill>
                <a:latin typeface="Calibri"/>
              </a:rPr>
              <a:t>NBA Lottery (2019)
[baseline]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40280" y="1490472"/>
            <a:ext cx="2377440" cy="74980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313432" y="1545336"/>
            <a:ext cx="2212848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End-of-season standings,
flattened top-3 at 14%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17720" y="1490472"/>
            <a:ext cx="3840480" cy="74980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90872" y="1545336"/>
            <a:ext cx="3675888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Doesn't — deliberately loses to
improve lottery rank is rational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58200" y="1490472"/>
            <a:ext cx="3474720" cy="74980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31352" y="1545336"/>
            <a:ext cx="3310128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None (Banchio theorem applies)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2240280"/>
            <a:ext cx="1920240" cy="749808"/>
          </a:xfrm>
          <a:prstGeom prst="rect">
            <a:avLst/>
          </a:prstGeom>
          <a:solidFill>
            <a:srgbClr val="FA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0040" y="2240280"/>
            <a:ext cx="54864" cy="749808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8912" y="2295144"/>
            <a:ext cx="1755648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1B3A6B"/>
                </a:solidFill>
                <a:latin typeface="Calibri"/>
              </a:rPr>
              <a:t>Bilevel
(Kazachkov 2020)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40280" y="2240280"/>
            <a:ext cx="237744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313432" y="2295144"/>
            <a:ext cx="2212848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Standings at game 70
(~85% through season)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17720" y="2240280"/>
            <a:ext cx="384048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90872" y="2295144"/>
            <a:ext cx="3675888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Locks draft position before
tanking becomes rational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458200" y="2240280"/>
            <a:ext cx="347472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31352" y="2295144"/>
            <a:ext cx="3310128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No post-lock-point incentive;
residual pre-lock tanking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2990088"/>
            <a:ext cx="1920240" cy="749808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20040" y="2990088"/>
            <a:ext cx="54864" cy="749808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3044952"/>
            <a:ext cx="1755648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1B3A6B"/>
                </a:solidFill>
                <a:latin typeface="Calibri"/>
              </a:rPr>
              <a:t>COLA
(Highley et al. 2026)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240280" y="2990088"/>
            <a:ext cx="2377440" cy="74980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313432" y="3044952"/>
            <a:ext cx="2212848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Multi-season accumulated
tickets (equal/season)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17720" y="2990088"/>
            <a:ext cx="3840480" cy="74980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690872" y="3044952"/>
            <a:ext cx="3675888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Removes within-season link
between record and lottery odds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458200" y="2990088"/>
            <a:ext cx="3474720" cy="74980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31352" y="3044952"/>
            <a:ext cx="3310128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Near-full IC: within-season effort
does not affect lottery odds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3739896"/>
            <a:ext cx="1920240" cy="749808"/>
          </a:xfrm>
          <a:prstGeom prst="rect">
            <a:avLst/>
          </a:prstGeom>
          <a:solidFill>
            <a:srgbClr val="FA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20040" y="3739896"/>
            <a:ext cx="54864" cy="749808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38912" y="3794760"/>
            <a:ext cx="1755648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1B3A6B"/>
                </a:solidFill>
                <a:latin typeface="Calibri"/>
              </a:rPr>
              <a:t>Weighted Loss
(this paper)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240280" y="3739896"/>
            <a:ext cx="237744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313432" y="3794760"/>
            <a:ext cx="2212848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Cumulative loss score;
early losses worth more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617720" y="3739896"/>
            <a:ext cx="384048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690872" y="3794760"/>
            <a:ext cx="3675888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Decaying reward for tanking;
no hard cutoff to game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458200" y="3739896"/>
            <a:ext cx="347472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531352" y="3794760"/>
            <a:ext cx="3310128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Continuous suppression;
no strategic discontinuity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0040" y="4489704"/>
            <a:ext cx="1920240" cy="749808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20040" y="4489704"/>
            <a:ext cx="54864" cy="749808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38912" y="4544568"/>
            <a:ext cx="1755648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1B3A6B"/>
                </a:solidFill>
                <a:latin typeface="Calibri"/>
              </a:rPr>
              <a:t>NBA 3-2-1
(proposed 2026)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240280" y="4489704"/>
            <a:ext cx="2377440" cy="74980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313432" y="4544568"/>
            <a:ext cx="2212848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Tier A (worst 3): 2 balls;
Tier B (4–14): 3 balls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617720" y="4489704"/>
            <a:ext cx="3840480" cy="74980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690872" y="4544568"/>
            <a:ext cx="3675888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Inverts incentive: being
in bottom 3 is now WORSE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458200" y="4489704"/>
            <a:ext cx="3474720" cy="74980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531352" y="4544568"/>
            <a:ext cx="3310128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Reduces, does not eliminate;
Tier A guaranteed ≤ pick #12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96012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" y="82296"/>
            <a:ext cx="116128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Bilevel Ranking  (Kazachkov &amp; Vardi 2020)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594360"/>
            <a:ext cx="11612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B0BED4"/>
                </a:solidFill>
                <a:latin typeface="Calibri"/>
              </a:rPr>
              <a:t>Lock in draft positions before tanking becomes individually rational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051560"/>
            <a:ext cx="53949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600" b="1">
                <a:solidFill>
                  <a:srgbClr val="1A1A2E"/>
                </a:solidFill>
                <a:latin typeface="Calibri"/>
              </a:rPr>
              <a:t>▸ How it works: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555555"/>
                </a:solidFill>
                <a:latin typeface="Calibri"/>
              </a:rPr>
              <a:t>  – Standings are observed at a preset mid-season breakpoint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555555"/>
                </a:solidFill>
                <a:latin typeface="Calibri"/>
              </a:rPr>
              <a:t>  – Our calibration: game 70 of 82 (≈ 85% through the season)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555555"/>
                </a:solidFill>
                <a:latin typeface="Calibri"/>
              </a:rPr>
              <a:t>  – Draft lottery order for non-playoff teams = standings at the lock point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555555"/>
                </a:solidFill>
                <a:latin typeface="Calibri"/>
              </a:rPr>
              <a:t>  – Post-lock games count for playoff seeding only — not draft order</a:t>
            </a:r>
          </a:p>
          <a:p>
            <a:r>
              <a:rPr sz="800"/>
              <a:t> 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1A1A2E"/>
                </a:solidFill>
                <a:latin typeface="Calibri"/>
              </a:rPr>
              <a:t>▸ Why it works: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555555"/>
                </a:solidFill>
                <a:latin typeface="Calibri"/>
              </a:rPr>
              <a:t>  – No team can improve its lottery position after game 70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555555"/>
                </a:solidFill>
                <a:latin typeface="Calibri"/>
              </a:rPr>
              <a:t>  – Rational agents never tank post-lock: no benefit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555555"/>
                </a:solidFill>
                <a:latin typeface="Calibri"/>
              </a:rPr>
              <a:t>  – Residual tanking (3.0%) = rational pre-lock positioning</a:t>
            </a:r>
          </a:p>
          <a:p>
            <a:r>
              <a:rPr sz="800"/>
              <a:t> 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1A1A2E"/>
                </a:solidFill>
                <a:latin typeface="Calibri"/>
              </a:rPr>
              <a:t>▸ Key result (Kazachkov):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555555"/>
                </a:solidFill>
                <a:latin typeface="Calibri"/>
              </a:rPr>
              <a:t>  – 57–72% reduction in tanked games vs. NBA lottery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555555"/>
                </a:solidFill>
                <a:latin typeface="Calibri"/>
              </a:rPr>
              <a:t>  – Can also IMPROVE competitive balance: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555555"/>
                </a:solidFill>
                <a:latin typeface="Calibri"/>
              </a:rPr>
              <a:t>  – Late-season tanking distorts standings → bilevel corrects this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005840"/>
            <a:ext cx="5532120" cy="580644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051560"/>
            <a:ext cx="53949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600" b="1">
                <a:solidFill>
                  <a:srgbClr val="1A1A2E"/>
                </a:solidFill>
                <a:latin typeface="Calibri"/>
              </a:rPr>
              <a:t>▸ Tradeoffs &amp; Critiques: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555555"/>
                </a:solidFill>
                <a:latin typeface="Calibri"/>
              </a:rPr>
              <a:t>  – Breakpoint must be chosen in advance — no principled formula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555555"/>
                </a:solidFill>
                <a:latin typeface="Calibri"/>
              </a:rPr>
              <a:t>  – Pre-breakpoint tanking incentives remain (teams can game the lock point)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555555"/>
                </a:solidFill>
                <a:latin typeface="Calibri"/>
              </a:rPr>
              <a:t>  – Teams whose position is locked may rest healthy players (no incentive to compete)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555555"/>
                </a:solidFill>
                <a:latin typeface="Calibri"/>
              </a:rPr>
              <a:t>  – Fan engagement: confusing when draft order 'freezes' mid-season</a:t>
            </a:r>
          </a:p>
          <a:p>
            <a:r>
              <a:rPr sz="800"/>
              <a:t> 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1A1A2E"/>
                </a:solidFill>
                <a:latin typeface="Calibri"/>
              </a:rPr>
              <a:t>▸ In our simulation: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555555"/>
                </a:solidFill>
                <a:latin typeface="Calibri"/>
              </a:rPr>
              <a:t>  – Tanking rate: 3.0%  (vs. 6.9% for NBA lottery)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555555"/>
                </a:solidFill>
                <a:latin typeface="Calibri"/>
              </a:rPr>
              <a:t>  – Tau distance: 0.398  (honest: 0.403)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555555"/>
                </a:solidFill>
                <a:latin typeface="Calibri"/>
              </a:rPr>
              <a:t>  – Draft efficiency (weakest quartile): 6.85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555555"/>
                </a:solidFill>
                <a:latin typeface="Calibri"/>
              </a:rPr>
              <a:t>  – Pre-lock tanking observed: rational agents see value in early-season
   positioning before the lock point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96012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" y="82296"/>
            <a:ext cx="116128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COLA: Carry-Over Lottery Allocation  (Highley et al. 2026)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594360"/>
            <a:ext cx="11612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B0BED4"/>
                </a:solidFill>
                <a:latin typeface="Calibri"/>
              </a:rPr>
              <a:t>Full incentive compatibility by breaking the standings → lottery link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051560"/>
            <a:ext cx="53949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600" b="1">
                <a:solidFill>
                  <a:srgbClr val="1A1A2E"/>
                </a:solidFill>
                <a:latin typeface="Calibri"/>
              </a:rPr>
              <a:t>▸ How it works: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555555"/>
                </a:solidFill>
                <a:latin typeface="Calibri"/>
              </a:rPr>
              <a:t>  – Every non-playoff team receives the same fixed number of tickets each season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555555"/>
                </a:solidFill>
                <a:latin typeface="Calibri"/>
              </a:rPr>
              <a:t>  – Record does not matter for ticket allocation within a season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555555"/>
                </a:solidFill>
                <a:latin typeface="Calibri"/>
              </a:rPr>
              <a:t>  – Tickets accumulate across seasons; playoff success / draft wins reduce stockpile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555555"/>
                </a:solidFill>
                <a:latin typeface="Calibri"/>
              </a:rPr>
              <a:t>  – Lottery draw from cumulative ticket pool</a:t>
            </a:r>
          </a:p>
          <a:p>
            <a:r>
              <a:rPr sz="800"/>
              <a:t> 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1A1A2E"/>
                </a:solidFill>
                <a:latin typeface="Calibri"/>
              </a:rPr>
              <a:t>▸ Why it works: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555555"/>
                </a:solidFill>
                <a:latin typeface="Calibri"/>
              </a:rPr>
              <a:t>  – Within any season: effort has no effect on lottery odds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555555"/>
                </a:solidFill>
                <a:latin typeface="Calibri"/>
              </a:rPr>
              <a:t>  – Rational agent has no incentive to tank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555555"/>
                </a:solidFill>
                <a:latin typeface="Calibri"/>
              </a:rPr>
              <a:t>  – Long-run: chronically weak teams accumulate tickets → better picks over time</a:t>
            </a:r>
          </a:p>
          <a:p>
            <a:r>
              <a:rPr sz="800"/>
              <a:t> 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1A1A2E"/>
                </a:solidFill>
                <a:latin typeface="Calibri"/>
              </a:rPr>
              <a:t>▸ Incentive-compatibility proof: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555555"/>
                </a:solidFill>
                <a:latin typeface="Calibri"/>
              </a:rPr>
              <a:t>  – Diet COLA variant: formally proved IC under assumption that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555555"/>
                </a:solidFill>
                <a:latin typeface="Calibri"/>
              </a:rPr>
              <a:t>  – making playoffs is always preferred to lottery access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555555"/>
                </a:solidFill>
                <a:latin typeface="Calibri"/>
              </a:rPr>
              <a:t>  – Classic COLA: simulated IC, not formally proved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005840"/>
            <a:ext cx="5532120" cy="580644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051560"/>
            <a:ext cx="53949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600" b="1">
                <a:solidFill>
                  <a:srgbClr val="1A1A2E"/>
                </a:solidFill>
                <a:latin typeface="Calibri"/>
              </a:rPr>
              <a:t>▸ Tradeoffs &amp; Critiques: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555555"/>
                </a:solidFill>
                <a:latin typeface="Calibri"/>
              </a:rPr>
              <a:t>  – Multi-season ticket carryover requires complex accounting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555555"/>
                </a:solidFill>
                <a:latin typeface="Calibri"/>
              </a:rPr>
              <a:t>  – Transition from current system: how to initialize stockpiles fairly?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555555"/>
                </a:solidFill>
                <a:latin typeface="Calibri"/>
              </a:rPr>
              <a:t>  – IC proof depends on all teams always preferring playoffs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555555"/>
                </a:solidFill>
                <a:latin typeface="Calibri"/>
              </a:rPr>
              <a:t>  – 'Strong draft year' extension uses Bayesian Truth Serum — itself manipulable</a:t>
            </a:r>
          </a:p>
          <a:p>
            <a:r>
              <a:rPr sz="800"/>
              <a:t> 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1A1A2E"/>
                </a:solidFill>
                <a:latin typeface="Calibri"/>
              </a:rPr>
              <a:t>▸ In our simulation: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555555"/>
                </a:solidFill>
                <a:latin typeface="Calibri"/>
              </a:rPr>
              <a:t>  – Tanking rate: 0.5%  (near-zero; consistent with IC)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555555"/>
                </a:solidFill>
                <a:latin typeface="Calibri"/>
              </a:rPr>
              <a:t>  – Tau distance: 0.408  (honest: 0.407 — nearly identical)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555555"/>
                </a:solidFill>
                <a:latin typeface="Calibri"/>
              </a:rPr>
              <a:t>  – Draft efficiency (weakest quartile): 7.21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555555"/>
                </a:solidFill>
                <a:latin typeface="Calibri"/>
              </a:rPr>
              <a:t>  – Residual tanking: edge cases where accumulated ticket differentials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555555"/>
                </a:solidFill>
                <a:latin typeface="Calibri"/>
              </a:rPr>
              <a:t>  – create ambiguous ranking near the lottery threshold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96012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" y="82296"/>
            <a:ext cx="116128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Weighted Loss &amp; NBA 3-2-1  (Two Anti-Tanking Designs)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539496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 i="0">
                <a:solidFill>
                  <a:srgbClr val="FF9800"/>
                </a:solidFill>
                <a:latin typeface="Calibri"/>
              </a:rPr>
              <a:t>Weighted Loss Mechanism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5087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600" b="0">
                <a:solidFill>
                  <a:srgbClr val="1A1A2E"/>
                </a:solidFill>
                <a:latin typeface="Calibri"/>
              </a:rPr>
              <a:t>▸ Lottery position = total weighted losses, not final standings</a:t>
            </a:r>
          </a:p>
          <a:p>
            <a:pPr>
              <a:spcBef>
                <a:spcPts val="600"/>
              </a:spcBef>
            </a:pPr>
            <a:r>
              <a:rPr sz="1600" b="0">
                <a:solidFill>
                  <a:srgbClr val="1A1A2E"/>
                </a:solidFill>
                <a:latin typeface="Calibri"/>
              </a:rPr>
              <a:t>▸ Weight function:  w(g) = 0.5^(g / 20)   (half-life = 20 games)</a:t>
            </a:r>
          </a:p>
          <a:p>
            <a:pPr>
              <a:spcBef>
                <a:spcPts val="600"/>
              </a:spcBef>
            </a:pPr>
            <a:r>
              <a:rPr sz="1600" b="0">
                <a:solidFill>
                  <a:srgbClr val="1A1A2E"/>
                </a:solidFill>
                <a:latin typeface="Calibri"/>
              </a:rPr>
              <a:t>▸ Early-season loss worth ~4× a late-season loss</a:t>
            </a:r>
          </a:p>
          <a:p>
            <a:r>
              <a:rPr sz="800"/>
              <a:t> 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1A1A2E"/>
                </a:solidFill>
                <a:latin typeface="Calibri"/>
              </a:rPr>
              <a:t>▸ Key property: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555555"/>
                </a:solidFill>
                <a:latin typeface="Calibri"/>
              </a:rPr>
              <a:t>  – No hard cutoff — tanking value decays smoothly all season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555555"/>
                </a:solidFill>
                <a:latin typeface="Calibri"/>
              </a:rPr>
              <a:t>  – Harder for teams to strategically 'time' their tanking window</a:t>
            </a:r>
          </a:p>
          <a:p>
            <a:r>
              <a:rPr sz="800"/>
              <a:t> 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1A1A2E"/>
                </a:solidFill>
                <a:latin typeface="Calibri"/>
              </a:rPr>
              <a:t>▸ Simulation results: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555555"/>
                </a:solidFill>
                <a:latin typeface="Calibri"/>
              </a:rPr>
              <a:t>  – Tanking rate: 2.3%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555555"/>
                </a:solidFill>
                <a:latin typeface="Calibri"/>
              </a:rPr>
              <a:t>  – Residual: rational agents still tank early when decay is slow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555555"/>
                </a:solidFill>
                <a:latin typeface="Calibri"/>
              </a:rPr>
              <a:t>  – Draft efficiency: 6.92  (solid redistributive performance)</a:t>
            </a:r>
          </a:p>
        </p:txBody>
      </p:sp>
      <p:sp>
        <p:nvSpPr>
          <p:cNvPr id="7" name="Rectangle 6"/>
          <p:cNvSpPr/>
          <p:nvPr/>
        </p:nvSpPr>
        <p:spPr>
          <a:xfrm>
            <a:off x="6080760" y="1051560"/>
            <a:ext cx="36576" cy="53035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051560"/>
            <a:ext cx="539496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 i="0">
                <a:solidFill>
                  <a:srgbClr val="9C27B0"/>
                </a:solidFill>
                <a:latin typeface="Calibri"/>
              </a:rPr>
              <a:t>NBA 3-2-1 Proposal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5087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600" b="0">
                <a:solidFill>
                  <a:srgbClr val="1A1A2E"/>
                </a:solidFill>
                <a:latin typeface="Calibri"/>
              </a:rPr>
              <a:t>▸ Tier A (worst 3 teams): 2 lottery balls each  →  5.9% odds at #1</a:t>
            </a:r>
          </a:p>
          <a:p>
            <a:pPr>
              <a:spcBef>
                <a:spcPts val="600"/>
              </a:spcBef>
            </a:pPr>
            <a:r>
              <a:rPr sz="1600" b="0">
                <a:solidFill>
                  <a:srgbClr val="1A1A2E"/>
                </a:solidFill>
                <a:latin typeface="Calibri"/>
              </a:rPr>
              <a:t>▸ Tier B (teams 4–14):    3 lottery balls each  →  8.8% odds at #1</a:t>
            </a:r>
          </a:p>
          <a:p>
            <a:pPr>
              <a:spcBef>
                <a:spcPts val="600"/>
              </a:spcBef>
            </a:pPr>
            <a:r>
              <a:rPr sz="1600" b="0">
                <a:solidFill>
                  <a:srgbClr val="1A1A2E"/>
                </a:solidFill>
                <a:latin typeface="Calibri"/>
              </a:rPr>
              <a:t>▸ Worst teams guaranteed no worse than pick #12</a:t>
            </a:r>
          </a:p>
          <a:p>
            <a:r>
              <a:rPr sz="800"/>
              <a:t> 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1A1A2E"/>
                </a:solidFill>
                <a:latin typeface="Calibri"/>
              </a:rPr>
              <a:t>▸ Key property (inverted incentive):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555555"/>
                </a:solidFill>
                <a:latin typeface="Calibri"/>
              </a:rPr>
              <a:t>  – Being in the bottom 3 is now WORSE than being in positions 4–14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555555"/>
                </a:solidFill>
                <a:latin typeface="Calibri"/>
              </a:rPr>
              <a:t>  – Rational strategy: avoid the absolute bottom, not target it</a:t>
            </a:r>
          </a:p>
          <a:p>
            <a:r>
              <a:rPr sz="800"/>
              <a:t> 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1A1A2E"/>
                </a:solidFill>
                <a:latin typeface="Calibri"/>
              </a:rPr>
              <a:t>▸ Simulation results: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555555"/>
                </a:solidFill>
                <a:latin typeface="Calibri"/>
              </a:rPr>
              <a:t>  – Tanking rate: 0.9%  (strong reduction)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555555"/>
                </a:solidFill>
                <a:latin typeface="Calibri"/>
              </a:rPr>
              <a:t>  – Draft efficiency: 6.57  — BEST of all mechanisms for weakest teams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555555"/>
                </a:solidFill>
                <a:latin typeface="Calibri"/>
              </a:rPr>
              <a:t>  – Surprising: fewer balls for worst teams → better outcomes on average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555555"/>
                </a:solidFill>
                <a:latin typeface="Calibri"/>
              </a:rPr>
              <a:t>  – Fewer extreme lottery misses; value more evenly spread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88952" cy="73152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90A4BD"/>
                </a:solidFill>
                <a:latin typeface="Calibri"/>
              </a:rPr>
              <a:t>SECTION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0584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Simulation 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9184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 i="0">
                <a:solidFill>
                  <a:srgbClr val="B0BED4"/>
                </a:solidFill>
                <a:latin typeface="Calibri"/>
              </a:rPr>
              <a:t>What we ran, why, and how agents make decisions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96012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" y="82296"/>
            <a:ext cx="116128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Experimental Conditions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594360"/>
            <a:ext cx="11612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B0BED4"/>
                </a:solidFill>
                <a:latin typeface="Calibri"/>
              </a:rPr>
              <a:t>7 conditions × 50 seasons each, all agents decide endogenously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502920" cy="38404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9184" y="1106424"/>
            <a:ext cx="4114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Cond.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051560"/>
            <a:ext cx="2286000" cy="38404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" y="1106424"/>
            <a:ext cx="21945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Mechanism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63240" y="1051560"/>
            <a:ext cx="3017520" cy="38404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18104" y="1106424"/>
            <a:ext cx="29260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Agent Population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80760" y="1051560"/>
            <a:ext cx="5943600" cy="38404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35624" y="1106424"/>
            <a:ext cx="58521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Purpose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1435608"/>
            <a:ext cx="502920" cy="5029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1435608"/>
            <a:ext cx="502920" cy="502920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9184" y="1499616"/>
            <a:ext cx="4114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1435608"/>
            <a:ext cx="2286000" cy="5029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" y="1499616"/>
            <a:ext cx="21945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Current NBA (2019)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63240" y="1435608"/>
            <a:ext cx="3017520" cy="5029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118104" y="1499616"/>
            <a:ext cx="29260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All honest (e = 1 always)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80760" y="1435608"/>
            <a:ext cx="5943600" cy="5029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35624" y="1499616"/>
            <a:ext cx="58521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Baseline: competitive balance under zero strategic play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1938528"/>
            <a:ext cx="5029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" y="1938528"/>
            <a:ext cx="502920" cy="502920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9184" y="2002536"/>
            <a:ext cx="4114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1938528"/>
            <a:ext cx="22860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" y="2002536"/>
            <a:ext cx="21945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Current NBA (2019)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063240" y="1938528"/>
            <a:ext cx="30175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118104" y="2002536"/>
            <a:ext cx="29260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1 rational + 29 honest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80760" y="1938528"/>
            <a:ext cx="59436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35624" y="2002536"/>
            <a:ext cx="58521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Does a single strategic team unravel the honest equilibrium?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2441448"/>
            <a:ext cx="502920" cy="5029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74320" y="2441448"/>
            <a:ext cx="502920" cy="50292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9184" y="2505456"/>
            <a:ext cx="4114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77240" y="2441448"/>
            <a:ext cx="2286000" cy="5029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2104" y="2505456"/>
            <a:ext cx="21945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Current NBA (2019)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063240" y="2441448"/>
            <a:ext cx="3017520" cy="5029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118104" y="2505456"/>
            <a:ext cx="29260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All 30 rational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80760" y="2441448"/>
            <a:ext cx="5943600" cy="5029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35624" y="2505456"/>
            <a:ext cx="58521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Equilibrium tanking level under the current system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2944368"/>
            <a:ext cx="5029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74320" y="2944368"/>
            <a:ext cx="502920" cy="50292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29184" y="3008376"/>
            <a:ext cx="4114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77240" y="2944368"/>
            <a:ext cx="22860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2104" y="3008376"/>
            <a:ext cx="21945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Bilevel  (lock: game 70)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063240" y="2944368"/>
            <a:ext cx="30175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118104" y="3008376"/>
            <a:ext cx="29260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All 30 rational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080760" y="2944368"/>
            <a:ext cx="59436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35624" y="3008376"/>
            <a:ext cx="58521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Does the bilevel guarantee hold against adaptive agents?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74320" y="3447288"/>
            <a:ext cx="502920" cy="5029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274320" y="3447288"/>
            <a:ext cx="502920" cy="50292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29184" y="3511296"/>
            <a:ext cx="4114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77240" y="3447288"/>
            <a:ext cx="2286000" cy="5029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32104" y="3511296"/>
            <a:ext cx="21945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COLA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063240" y="3447288"/>
            <a:ext cx="3017520" cy="5029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118104" y="3511296"/>
            <a:ext cx="29260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All 30 rational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080760" y="3447288"/>
            <a:ext cx="5943600" cy="5029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135624" y="3511296"/>
            <a:ext cx="58521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Does COLA's incentive compatibility survive strategic agents?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74320" y="3950208"/>
            <a:ext cx="5029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274320" y="3950208"/>
            <a:ext cx="502920" cy="50292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29184" y="4014216"/>
            <a:ext cx="4114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F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77240" y="3950208"/>
            <a:ext cx="22860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32104" y="4014216"/>
            <a:ext cx="21945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Weighted Loss (exp, t½=20)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63240" y="3950208"/>
            <a:ext cx="30175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118104" y="4014216"/>
            <a:ext cx="29260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All 30 rational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080760" y="3950208"/>
            <a:ext cx="59436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135624" y="4014216"/>
            <a:ext cx="58521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Does continuous decay suppress tanking vs. hard cutoff?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74320" y="4453128"/>
            <a:ext cx="502920" cy="5029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274320" y="4453128"/>
            <a:ext cx="502920" cy="502920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29184" y="4517136"/>
            <a:ext cx="4114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G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77240" y="4453128"/>
            <a:ext cx="2286000" cy="5029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32104" y="4517136"/>
            <a:ext cx="21945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NBA 3-2-1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63240" y="4453128"/>
            <a:ext cx="3017520" cy="5029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118104" y="4517136"/>
            <a:ext cx="29260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All 30 rational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080760" y="4453128"/>
            <a:ext cx="5943600" cy="5029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135624" y="4517136"/>
            <a:ext cx="58521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Does inverting Tier A odds alter the tanking equilibrium?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74320" y="5029200"/>
            <a:ext cx="11750040" cy="274320"/>
          </a:xfrm>
          <a:prstGeom prst="rect">
            <a:avLst/>
          </a:prstGeom>
          <a:solidFill>
            <a:srgbClr val="D0D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65760" y="5056632"/>
            <a:ext cx="7315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1B3A6B"/>
                </a:solidFill>
                <a:latin typeface="Calibri"/>
              </a:rPr>
              <a:t>Additional sweeps (50 seasons each):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74320" y="5303520"/>
            <a:ext cx="502920" cy="34747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29184" y="5340096"/>
            <a:ext cx="4114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00897B"/>
                </a:solidFill>
                <a:latin typeface="Calibri"/>
              </a:rPr>
              <a:t>★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77240" y="5303520"/>
            <a:ext cx="2286000" cy="34747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32104" y="5340096"/>
            <a:ext cx="21945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Mixed-population sweep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063240" y="5303520"/>
            <a:ext cx="3017520" cy="34747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3118104" y="5340096"/>
            <a:ext cx="29260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n_rational ∈ {0, 1, 5, 15, 30}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080760" y="5303520"/>
            <a:ext cx="5943600" cy="34747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135624" y="5340096"/>
            <a:ext cx="58521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How does tanking scale with rational-agent share?</a:t>
            </a:r>
          </a:p>
        </p:txBody>
      </p:sp>
      <p:sp>
        <p:nvSpPr>
          <p:cNvPr id="87" name="Rectangle 86"/>
          <p:cNvSpPr/>
          <p:nvPr/>
        </p:nvSpPr>
        <p:spPr>
          <a:xfrm>
            <a:off x="274320" y="5650992"/>
            <a:ext cx="5029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329184" y="5687568"/>
            <a:ext cx="4114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00897B"/>
                </a:solidFill>
                <a:latin typeface="Calibri"/>
              </a:rPr>
              <a:t>★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77240" y="5650992"/>
            <a:ext cx="22860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32104" y="5687568"/>
            <a:ext cx="21945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Playoff-value sweep (V)</a:t>
            </a:r>
          </a:p>
        </p:txBody>
      </p:sp>
      <p:sp>
        <p:nvSpPr>
          <p:cNvPr id="91" name="Rectangle 90"/>
          <p:cNvSpPr/>
          <p:nvPr/>
        </p:nvSpPr>
        <p:spPr>
          <a:xfrm>
            <a:off x="3063240" y="5650992"/>
            <a:ext cx="30175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3118104" y="5687568"/>
            <a:ext cx="29260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V ∈ {50, 100, 150, 200, 300}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080760" y="5650992"/>
            <a:ext cx="59436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135624" y="5687568"/>
            <a:ext cx="58521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When do playoff incentives dominate lottery incentives?</a:t>
            </a:r>
          </a:p>
        </p:txBody>
      </p:sp>
      <p:sp>
        <p:nvSpPr>
          <p:cNvPr id="95" name="Rectangle 94"/>
          <p:cNvSpPr/>
          <p:nvPr/>
        </p:nvSpPr>
        <p:spPr>
          <a:xfrm>
            <a:off x="274320" y="5998464"/>
            <a:ext cx="502920" cy="34747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329184" y="6035040"/>
            <a:ext cx="4114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00897B"/>
                </a:solidFill>
                <a:latin typeface="Calibri"/>
              </a:rPr>
              <a:t>★</a:t>
            </a:r>
          </a:p>
        </p:txBody>
      </p:sp>
      <p:sp>
        <p:nvSpPr>
          <p:cNvPr id="97" name="Rectangle 96"/>
          <p:cNvSpPr/>
          <p:nvPr/>
        </p:nvSpPr>
        <p:spPr>
          <a:xfrm>
            <a:off x="777240" y="5998464"/>
            <a:ext cx="2286000" cy="34747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832104" y="6035040"/>
            <a:ext cx="21945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LLM agents (10 seasons)</a:t>
            </a:r>
          </a:p>
        </p:txBody>
      </p:sp>
      <p:sp>
        <p:nvSpPr>
          <p:cNvPr id="99" name="Rectangle 98"/>
          <p:cNvSpPr/>
          <p:nvPr/>
        </p:nvSpPr>
        <p:spPr>
          <a:xfrm>
            <a:off x="3063240" y="5998464"/>
            <a:ext cx="3017520" cy="34747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3118104" y="6035040"/>
            <a:ext cx="29260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All 30 = Claude Haiku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6080760" y="5998464"/>
            <a:ext cx="5943600" cy="34747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6135624" y="6035040"/>
            <a:ext cx="58521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Do LLMs spontaneously discover the tanking incentive?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96012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" y="82296"/>
            <a:ext cx="116128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Agent Design: Rational vs. LLM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594360"/>
            <a:ext cx="11612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B0BED4"/>
                </a:solidFill>
                <a:latin typeface="Calibri"/>
              </a:rPr>
              <a:t>No hard-coded strategies — behavior emerges from incentives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051560"/>
            <a:ext cx="5394960" cy="347472"/>
          </a:xfrm>
          <a:prstGeom prst="rect">
            <a:avLst/>
          </a:prstGeom>
          <a:solidFill>
            <a:srgbClr val="E3ED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97280"/>
            <a:ext cx="5394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 i="0">
                <a:solidFill>
                  <a:srgbClr val="1B3A6B"/>
                </a:solidFill>
                <a:latin typeface="Calibri"/>
              </a:rPr>
              <a:t>Rational Agent  (analytical EU maximizer)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435608"/>
            <a:ext cx="5394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500" b="0">
                <a:solidFill>
                  <a:srgbClr val="1A1A2E"/>
                </a:solidFill>
                <a:latin typeface="Calibri"/>
              </a:rPr>
              <a:t>▸ At each checkpoint: evaluates EU over effort grid {0, 0.25, 0.5, 0.75, 1.0}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A2E"/>
                </a:solidFill>
                <a:latin typeface="Calibri"/>
              </a:rPr>
              <a:t>▸ Playoff probability: normal approximation (σ² = n·p·(1−p))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A2E"/>
                </a:solidFill>
                <a:latin typeface="Calibri"/>
              </a:rPr>
              <a:t>▸ Lottery EV: pre-computed Monte Carlo table (5,000 simulations per lottery structure)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A2E"/>
                </a:solidFill>
                <a:latin typeface="Calibri"/>
              </a:rPr>
              <a:t>▸ Picks effort with max EU; deterministic given game state</a:t>
            </a:r>
          </a:p>
          <a:p>
            <a:r>
              <a:rPr sz="700"/>
              <a:t> 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A2E"/>
                </a:solidFill>
                <a:latin typeface="Calibri"/>
              </a:rPr>
              <a:t>▸ Advantage: reproducible, fast, analytically grounded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A2E"/>
                </a:solidFill>
                <a:latin typeface="Calibri"/>
              </a:rPr>
              <a:t>▸ Advantage: can isolate mechanism effects without LLM noise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A2E"/>
                </a:solidFill>
                <a:latin typeface="Calibri"/>
              </a:rPr>
              <a:t>▸ Limitation: perfect rationality — not how real GMs reason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A2E"/>
                </a:solidFill>
                <a:latin typeface="Calibri"/>
              </a:rPr>
              <a:t>▸ Limitation: no learning across seasons (stateless Bayesian agent)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1051560"/>
            <a:ext cx="5394960" cy="347472"/>
          </a:xfrm>
          <a:prstGeom prst="rect">
            <a:avLst/>
          </a:prstGeom>
          <a:solidFill>
            <a:srgbClr val="FBE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097280"/>
            <a:ext cx="5394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 i="0">
                <a:solidFill>
                  <a:srgbClr val="1B3A6B"/>
                </a:solidFill>
                <a:latin typeface="Calibri"/>
              </a:rPr>
              <a:t>LLM Agent  (Claude Haiku-4-5 via Anthropic API)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435608"/>
            <a:ext cx="5394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500" b="0">
                <a:solidFill>
                  <a:srgbClr val="1A1A2E"/>
                </a:solidFill>
                <a:latin typeface="Calibri"/>
              </a:rPr>
              <a:t>▸ Receives structured natural-language prompt at each checkpoint: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555555"/>
                </a:solidFill>
                <a:latin typeface="Calibri"/>
              </a:rPr>
              <a:t>  – Current record, rank, standings (top 5 / bottom 5)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555555"/>
                </a:solidFill>
                <a:latin typeface="Calibri"/>
              </a:rPr>
              <a:t>  – Games remaining, playoff gap, lottery tickets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555555"/>
                </a:solidFill>
                <a:latin typeface="Calibri"/>
              </a:rPr>
              <a:t>  – Mechanism description + full D(k) payoff schedule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A2E"/>
                </a:solidFill>
                <a:latin typeface="Calibri"/>
              </a:rPr>
              <a:t>▸ Returns JSON:  {"effort": float, "reasoning": string}</a:t>
            </a:r>
          </a:p>
          <a:p>
            <a:r>
              <a:rPr sz="700"/>
              <a:t> 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A2E"/>
                </a:solidFill>
                <a:latin typeface="Calibri"/>
              </a:rPr>
              <a:t>▸ System prompt cached per agent instance (reduces API cost ~80%)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A2E"/>
                </a:solidFill>
                <a:latin typeface="Calibri"/>
              </a:rPr>
              <a:t>▸ No hard-coded tanking rule — behavior fully emergent</a:t>
            </a:r>
          </a:p>
          <a:p>
            <a:r>
              <a:rPr sz="700"/>
              <a:t> 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A2E"/>
                </a:solidFill>
                <a:latin typeface="Calibri"/>
              </a:rPr>
              <a:t>▸ Advantage: behavioral realism — reasons like a front office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A2E"/>
                </a:solidFill>
                <a:latin typeface="Calibri"/>
              </a:rPr>
              <a:t>▸ Advantage: spontaneous discovery of game-theoretic incentives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A2E"/>
                </a:solidFill>
                <a:latin typeface="Calibri"/>
              </a:rPr>
              <a:t>▸ Limitation: expensive (10 seasons of 30 teams × 8 decisions)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88952" cy="73152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90A4BD"/>
                </a:solidFill>
                <a:latin typeface="Calibri"/>
              </a:rPr>
              <a:t>SECTION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0584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Results &amp; Findings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9184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 i="0">
                <a:solidFill>
                  <a:srgbClr val="B0BED4"/>
                </a:solidFill>
                <a:latin typeface="Calibri"/>
              </a:rPr>
              <a:t>50 seasons × 5 mechanisms × rational + honest baselines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96012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" y="82296"/>
            <a:ext cx="116128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Result 1: Tanking Rate by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594360"/>
            <a:ext cx="11612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B0BED4"/>
                </a:solidFill>
                <a:latin typeface="Calibri"/>
              </a:rPr>
              <a:t>All reforms reduce tanking — but by different amounts and mechanisms</a:t>
            </a:r>
          </a:p>
        </p:txBody>
      </p:sp>
      <p:sp>
        <p:nvSpPr>
          <p:cNvPr id="6" name="Rectangle 5"/>
          <p:cNvSpPr/>
          <p:nvPr/>
        </p:nvSpPr>
        <p:spPr>
          <a:xfrm>
            <a:off x="6338255" y="960120"/>
            <a:ext cx="5850696" cy="589788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1_tanking_by_mechanis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69848"/>
            <a:ext cx="6118799" cy="567842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66855" y="1234440"/>
            <a:ext cx="5484936" cy="553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700" b="1">
                <a:solidFill>
                  <a:srgbClr val="1A1A2E"/>
                </a:solidFill>
                <a:latin typeface="Calibri"/>
              </a:rPr>
              <a:t>▸ Key numbers (rational agents, 50 seasons):</a:t>
            </a:r>
          </a:p>
          <a:p>
            <a:r>
              <a:rPr sz="800"/>
              <a:t> 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1A1A2E"/>
                </a:solidFill>
                <a:latin typeface="Calibri"/>
              </a:rPr>
              <a:t>▸ NBA 2019 baseline:   6.9%  ←  ceiling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1A1A2E"/>
                </a:solidFill>
                <a:latin typeface="Calibri"/>
              </a:rPr>
              <a:t>▸ Bilevel (lock g=70): 3.0%  ←  pre-lock tanking remains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1A1A2E"/>
                </a:solidFill>
                <a:latin typeface="Calibri"/>
              </a:rPr>
              <a:t>▸ Weighted loss:       2.3%  ←  early-season incentive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1A1A2E"/>
                </a:solidFill>
                <a:latin typeface="Calibri"/>
              </a:rPr>
              <a:t>▸ NBA 3-2-1:           0.9%  ←  inverted incentive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1A1A2E"/>
                </a:solidFill>
                <a:latin typeface="Calibri"/>
              </a:rPr>
              <a:t>▸ COLA:                0.5%  ←  near-zero (near-IC)</a:t>
            </a:r>
          </a:p>
          <a:p>
            <a:r>
              <a:rPr sz="800"/>
              <a:t> </a:t>
            </a:r>
          </a:p>
          <a:p>
            <a:pPr>
              <a:spcBef>
                <a:spcPts val="800"/>
              </a:spcBef>
            </a:pPr>
            <a:r>
              <a:rPr sz="1700" b="1">
                <a:solidFill>
                  <a:srgbClr val="1A1A2E"/>
                </a:solidFill>
                <a:latin typeface="Calibri"/>
              </a:rPr>
              <a:t>▸ Honest agents: 0.0% across all mechanisms</a:t>
            </a:r>
          </a:p>
          <a:p>
            <a:r>
              <a:rPr sz="800"/>
              <a:t> </a:t>
            </a:r>
          </a:p>
          <a:p>
            <a:pPr>
              <a:spcBef>
                <a:spcPts val="800"/>
              </a:spcBef>
            </a:pPr>
            <a:r>
              <a:rPr sz="1700" b="1">
                <a:solidFill>
                  <a:srgbClr val="1A1A2E"/>
                </a:solidFill>
                <a:latin typeface="Calibri"/>
              </a:rPr>
              <a:t>▸ Takeaways: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1A1A2E"/>
                </a:solidFill>
                <a:latin typeface="Calibri"/>
              </a:rPr>
              <a:t>▸ All four reforms outperform status quo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1A1A2E"/>
                </a:solidFill>
                <a:latin typeface="Calibri"/>
              </a:rPr>
              <a:t>▸ No single mechanism perfectly eliminates tanking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1A1A2E"/>
                </a:solidFill>
                <a:latin typeface="Calibri"/>
              </a:rPr>
              <a:t>▸ COLA and 3-2-1 achieve strongest suppression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1A1A2E"/>
                </a:solidFill>
                <a:latin typeface="Calibri"/>
              </a:rPr>
              <a:t>▸ Bilevel retains pre-breakpoint incentive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96012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" y="82296"/>
            <a:ext cx="116128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Result 2: Competitive Balance (Kendall Tau Distance)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594360"/>
            <a:ext cx="11612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B0BED4"/>
                </a:solidFill>
                <a:latin typeface="Calibri"/>
              </a:rPr>
              <a:t>τ = 0: standings perfectly reflect skill  |  τ = 1: fully reversed</a:t>
            </a:r>
          </a:p>
        </p:txBody>
      </p:sp>
      <p:sp>
        <p:nvSpPr>
          <p:cNvPr id="6" name="Rectangle 5"/>
          <p:cNvSpPr/>
          <p:nvPr/>
        </p:nvSpPr>
        <p:spPr>
          <a:xfrm>
            <a:off x="6338255" y="960120"/>
            <a:ext cx="5850696" cy="589788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2_tau_by_mechanis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69848"/>
            <a:ext cx="6118799" cy="567842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66855" y="1234440"/>
            <a:ext cx="5484936" cy="553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700" b="1">
                <a:solidFill>
                  <a:srgbClr val="1A1A2E"/>
                </a:solidFill>
                <a:latin typeface="Calibri"/>
              </a:rPr>
              <a:t>▸ Tau distance  (rational / honest):</a:t>
            </a:r>
          </a:p>
          <a:p>
            <a:r>
              <a:rPr sz="800"/>
              <a:t> 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1A1A2E"/>
                </a:solidFill>
                <a:latin typeface="Calibri"/>
              </a:rPr>
              <a:t>▸ NBA 2019:    0.397 / 0.399  (≈ same)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1A1A2E"/>
                </a:solidFill>
                <a:latin typeface="Calibri"/>
              </a:rPr>
              <a:t>▸ Bilevel:     0.398 / 0.403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1A1A2E"/>
                </a:solidFill>
                <a:latin typeface="Calibri"/>
              </a:rPr>
              <a:t>▸ COLA:        0.408 / 0.407  (identical!)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1A1A2E"/>
                </a:solidFill>
                <a:latin typeface="Calibri"/>
              </a:rPr>
              <a:t>▸ Wt. Loss:    0.396 / 0.406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1A1A2E"/>
                </a:solidFill>
                <a:latin typeface="Calibri"/>
              </a:rPr>
              <a:t>▸ NBA 3-2-1:   0.409 / 0.407</a:t>
            </a:r>
          </a:p>
          <a:p>
            <a:r>
              <a:rPr sz="800"/>
              <a:t> </a:t>
            </a:r>
          </a:p>
          <a:p>
            <a:pPr>
              <a:spcBef>
                <a:spcPts val="800"/>
              </a:spcBef>
            </a:pPr>
            <a:r>
              <a:rPr sz="1700" b="1">
                <a:solidFill>
                  <a:srgbClr val="1A1A2E"/>
                </a:solidFill>
                <a:latin typeface="Calibri"/>
              </a:rPr>
              <a:t>▸ Surprising finding: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1A1A2E"/>
                </a:solidFill>
                <a:latin typeface="Calibri"/>
              </a:rPr>
              <a:t>▸ With V = 200, rational agents barely change tau vs. honest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1A1A2E"/>
                </a:solidFill>
                <a:latin typeface="Calibri"/>
              </a:rPr>
              <a:t>▸ Only 6.9% tanking → standings still mostly reflect skill</a:t>
            </a:r>
          </a:p>
          <a:p>
            <a:r>
              <a:rPr sz="800"/>
              <a:t> </a:t>
            </a:r>
          </a:p>
          <a:p>
            <a:pPr>
              <a:spcBef>
                <a:spcPts val="800"/>
              </a:spcBef>
            </a:pPr>
            <a:r>
              <a:rPr sz="1700" b="1">
                <a:solidFill>
                  <a:srgbClr val="1A1A2E"/>
                </a:solidFill>
                <a:latin typeface="Calibri"/>
              </a:rPr>
              <a:t>▸ Draft efficiency (avg pick, weakest quartile):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1A1A2E"/>
                </a:solidFill>
                <a:latin typeface="Calibri"/>
              </a:rPr>
              <a:t>▸ 3-2-1:    6.57  ← best!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1A1A2E"/>
                </a:solidFill>
                <a:latin typeface="Calibri"/>
              </a:rPr>
              <a:t>▸ Bilevel:  6.85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1A1A2E"/>
                </a:solidFill>
                <a:latin typeface="Calibri"/>
              </a:rPr>
              <a:t>▸ Wt. Loss: 6.92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1A1A2E"/>
                </a:solidFill>
                <a:latin typeface="Calibri"/>
              </a:rPr>
              <a:t>▸ COLA:     7.21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1A1A2E"/>
                </a:solidFill>
                <a:latin typeface="Calibri"/>
              </a:rPr>
              <a:t>▸ NBA 2019: 7.52  ← worst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96012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" y="82296"/>
            <a:ext cx="116128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Result 3: Mixed-Population Sweep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594360"/>
            <a:ext cx="11612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B0BED4"/>
                </a:solidFill>
                <a:latin typeface="Calibri"/>
              </a:rPr>
              <a:t>How does tanking scale as the fraction of rational agents grows?</a:t>
            </a:r>
          </a:p>
        </p:txBody>
      </p:sp>
      <p:sp>
        <p:nvSpPr>
          <p:cNvPr id="6" name="Rectangle 5"/>
          <p:cNvSpPr/>
          <p:nvPr/>
        </p:nvSpPr>
        <p:spPr>
          <a:xfrm>
            <a:off x="6338255" y="960120"/>
            <a:ext cx="5850696" cy="589788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3_mixed_swe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69848"/>
            <a:ext cx="6118799" cy="567842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66855" y="1234440"/>
            <a:ext cx="5484936" cy="553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700" b="1">
                <a:solidFill>
                  <a:srgbClr val="1A1A2E"/>
                </a:solidFill>
                <a:latin typeface="Calibri"/>
              </a:rPr>
              <a:t>▸ Tanking rate by # rational agents:</a:t>
            </a:r>
          </a:p>
          <a:p>
            <a:r>
              <a:rPr sz="800"/>
              <a:t> 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555555"/>
                </a:solidFill>
                <a:latin typeface="Calibri"/>
              </a:rPr>
              <a:t>  – 0 rational:  0.0%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555555"/>
                </a:solidFill>
                <a:latin typeface="Calibri"/>
              </a:rPr>
              <a:t>  – 1 rational:  0.2%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555555"/>
                </a:solidFill>
                <a:latin typeface="Calibri"/>
              </a:rPr>
              <a:t>  – 5 rational:  0.8%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1A1A2E"/>
                </a:solidFill>
                <a:latin typeface="Calibri"/>
              </a:rPr>
              <a:t>▸ 15 rational:  2.8%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1A1A2E"/>
                </a:solidFill>
                <a:latin typeface="Calibri"/>
              </a:rPr>
              <a:t>▸ 30 rational:  6.9%</a:t>
            </a:r>
          </a:p>
          <a:p>
            <a:r>
              <a:rPr sz="800"/>
              <a:t> </a:t>
            </a:r>
          </a:p>
          <a:p>
            <a:pPr>
              <a:spcBef>
                <a:spcPts val="800"/>
              </a:spcBef>
            </a:pPr>
            <a:r>
              <a:rPr sz="1700" b="1">
                <a:solidFill>
                  <a:srgbClr val="1A1A2E"/>
                </a:solidFill>
                <a:latin typeface="Calibri"/>
              </a:rPr>
              <a:t>▸ Finding: linear scaling, no cascade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1A1A2E"/>
                </a:solidFill>
                <a:latin typeface="Calibri"/>
              </a:rPr>
              <a:t>▸ Each added rational team ≈ +0.2 pp tanking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1A1A2E"/>
                </a:solidFill>
                <a:latin typeface="Calibri"/>
              </a:rPr>
              <a:t>▸ Honest equilibrium is NOT fragile at first defection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1A1A2E"/>
                </a:solidFill>
                <a:latin typeface="Calibri"/>
              </a:rPr>
              <a:t>▸ But unstable over the long run: any front office that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1A1A2E"/>
                </a:solidFill>
                <a:latin typeface="Calibri"/>
              </a:rPr>
              <a:t>▸ optimizes against the incentive structure gains value</a:t>
            </a:r>
          </a:p>
          <a:p>
            <a:r>
              <a:rPr sz="800"/>
              <a:t> 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1A1A2E"/>
                </a:solidFill>
                <a:latin typeface="Calibri"/>
              </a:rPr>
              <a:t>▸ Real NBA implication: even if most teams play honestly,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1A1A2E"/>
                </a:solidFill>
                <a:latin typeface="Calibri"/>
              </a:rPr>
              <a:t>▸ a small number of analytical front offices can rationally tank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1A1A2E"/>
                </a:solidFill>
                <a:latin typeface="Calibri"/>
              </a:rPr>
              <a:t>▸ without triggering league-wide contagion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96012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" y="82296"/>
            <a:ext cx="116128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Result 4: Playoff Value Sensitivity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594360"/>
            <a:ext cx="11612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B0BED4"/>
                </a:solidFill>
                <a:latin typeface="Calibri"/>
              </a:rPr>
              <a:t>How does calibrating V (playoff value) change rational tanking?</a:t>
            </a:r>
          </a:p>
        </p:txBody>
      </p:sp>
      <p:sp>
        <p:nvSpPr>
          <p:cNvPr id="6" name="Rectangle 5"/>
          <p:cNvSpPr/>
          <p:nvPr/>
        </p:nvSpPr>
        <p:spPr>
          <a:xfrm>
            <a:off x="6338255" y="960120"/>
            <a:ext cx="5850696" cy="589788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4_playoff_value_swe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69848"/>
            <a:ext cx="6118799" cy="567842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66855" y="1234440"/>
            <a:ext cx="5484936" cy="553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700" b="1">
                <a:solidFill>
                  <a:srgbClr val="1A1A2E"/>
                </a:solidFill>
                <a:latin typeface="Calibri"/>
              </a:rPr>
              <a:t>▸ Tanking rate by playoff value V:</a:t>
            </a:r>
          </a:p>
          <a:p>
            <a:r>
              <a:rPr sz="800"/>
              <a:t> 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1A1A2E"/>
                </a:solidFill>
                <a:latin typeface="Calibri"/>
              </a:rPr>
              <a:t>▸ V =  50:  28.1%  ← high tanking when V is low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1A1A2E"/>
                </a:solidFill>
                <a:latin typeface="Calibri"/>
              </a:rPr>
              <a:t>▸ V = 100:  13.1%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1A1A2E"/>
                </a:solidFill>
                <a:latin typeface="Calibri"/>
              </a:rPr>
              <a:t>▸ V = 150:   8.8%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1A1A2E"/>
                </a:solidFill>
                <a:latin typeface="Calibri"/>
              </a:rPr>
              <a:t>▸ V = 200:   6.9%  ← our baseline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1A1A2E"/>
                </a:solidFill>
                <a:latin typeface="Calibri"/>
              </a:rPr>
              <a:t>▸ V = 300:   5.3%</a:t>
            </a:r>
          </a:p>
          <a:p>
            <a:r>
              <a:rPr sz="800"/>
              <a:t> </a:t>
            </a:r>
          </a:p>
          <a:p>
            <a:pPr>
              <a:spcBef>
                <a:spcPts val="800"/>
              </a:spcBef>
            </a:pPr>
            <a:r>
              <a:rPr sz="1700" b="1">
                <a:solidFill>
                  <a:srgbClr val="1A1A2E"/>
                </a:solidFill>
                <a:latin typeface="Calibri"/>
              </a:rPr>
              <a:t>▸ Finding: monotone decline, no sharp threshold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1A1A2E"/>
                </a:solidFill>
                <a:latin typeface="Calibri"/>
              </a:rPr>
              <a:t>▸ Old binary EU model: cliff at V ≈ 50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1A1A2E"/>
                </a:solidFill>
                <a:latin typeface="Calibri"/>
              </a:rPr>
              <a:t>▸ Probabilistic model: smooth continuous decline</a:t>
            </a:r>
          </a:p>
          <a:p>
            <a:r>
              <a:rPr sz="800"/>
              <a:t> </a:t>
            </a:r>
          </a:p>
          <a:p>
            <a:pPr>
              <a:spcBef>
                <a:spcPts val="800"/>
              </a:spcBef>
            </a:pPr>
            <a:r>
              <a:rPr sz="1700" b="1">
                <a:solidFill>
                  <a:srgbClr val="1A1A2E"/>
                </a:solidFill>
                <a:latin typeface="Calibri"/>
              </a:rPr>
              <a:t>▸ Why this matters: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1A1A2E"/>
                </a:solidFill>
                <a:latin typeface="Calibri"/>
              </a:rPr>
              <a:t>▸ Calibration of V matters enormously for predictions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1A1A2E"/>
                </a:solidFill>
                <a:latin typeface="Calibri"/>
              </a:rPr>
              <a:t>▸ V = 200 (&gt;&gt; pick value) is consistent with the paper's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1A1A2E"/>
                </a:solidFill>
                <a:latin typeface="Calibri"/>
              </a:rPr>
              <a:t>▸ core assumption that u(playoffs) &gt;&gt; u(picks)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1A1A2E"/>
                </a:solidFill>
                <a:latin typeface="Calibri"/>
              </a:rPr>
              <a:t>▸ Real NBA teams likely have V &gt;&gt; 200 in revenue terms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96012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" y="82296"/>
            <a:ext cx="116128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Result 5: LLM Agents  (Claude Haiku-4-5, 10 seasons)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594360"/>
            <a:ext cx="11612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B0BED4"/>
                </a:solidFill>
                <a:latin typeface="Calibri"/>
              </a:rPr>
              <a:t>Does the tanking incentive emerge spontaneously from language model reasoning?</a:t>
            </a:r>
          </a:p>
        </p:txBody>
      </p:sp>
      <p:sp>
        <p:nvSpPr>
          <p:cNvPr id="6" name="Rectangle 5"/>
          <p:cNvSpPr/>
          <p:nvPr/>
        </p:nvSpPr>
        <p:spPr>
          <a:xfrm>
            <a:off x="5606917" y="960120"/>
            <a:ext cx="6582034" cy="589788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_llm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69848"/>
            <a:ext cx="5387461" cy="567842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35517" y="1234440"/>
            <a:ext cx="6216274" cy="553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700" b="1">
                <a:solidFill>
                  <a:srgbClr val="1A1A2E"/>
                </a:solidFill>
                <a:latin typeface="Calibri"/>
              </a:rPr>
              <a:t>▸ LLM: 13.2%  vs.  Rational: 6.9%  (≈ 2×)</a:t>
            </a:r>
          </a:p>
          <a:p>
            <a:r>
              <a:rPr sz="800"/>
              <a:t> </a:t>
            </a:r>
          </a:p>
          <a:p>
            <a:pPr>
              <a:spcBef>
                <a:spcPts val="800"/>
              </a:spcBef>
            </a:pPr>
            <a:r>
              <a:rPr sz="1700" b="1">
                <a:solidFill>
                  <a:srgbClr val="1A1A2E"/>
                </a:solidFill>
                <a:latin typeface="Calibri"/>
              </a:rPr>
              <a:t>▸ LLM reasoning patterns: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1A1A2E"/>
                </a:solidFill>
                <a:latin typeface="Calibri"/>
              </a:rPr>
              <a:t>▸ "At 8-22, playoff probability is negligible (&lt;5%),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555555"/>
                </a:solidFill>
                <a:latin typeface="Calibri"/>
              </a:rPr>
              <a:t>  – lottery upside exceeds any realistic playoff path"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555555"/>
                </a:solidFill>
                <a:latin typeface="Calibri"/>
              </a:rPr>
              <a:t>  – → effort = 0.0  (tanking)</a:t>
            </a:r>
          </a:p>
          <a:p>
            <a:r>
              <a:rPr sz="800"/>
              <a:t> 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1A1A2E"/>
                </a:solidFill>
                <a:latin typeface="Calibri"/>
              </a:rPr>
              <a:t>▸ "playoff probability is high and 200-pt bonus vastly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555555"/>
                </a:solidFill>
                <a:latin typeface="Calibri"/>
              </a:rPr>
              <a:t>  – exceeds any lottery pick expected value; compete"</a:t>
            </a:r>
          </a:p>
          <a:p>
            <a:pPr>
              <a:spcBef>
                <a:spcPts val="200"/>
              </a:spcBef>
            </a:pPr>
            <a:r>
              <a:rPr sz="1500" b="0">
                <a:solidFill>
                  <a:srgbClr val="555555"/>
                </a:solidFill>
                <a:latin typeface="Calibri"/>
              </a:rPr>
              <a:t>  – → effort = 1.0  (competing)</a:t>
            </a:r>
          </a:p>
          <a:p>
            <a:r>
              <a:rPr sz="800"/>
              <a:t> </a:t>
            </a:r>
          </a:p>
          <a:p>
            <a:pPr>
              <a:spcBef>
                <a:spcPts val="800"/>
              </a:spcBef>
            </a:pPr>
            <a:r>
              <a:rPr sz="1700" b="1">
                <a:solidFill>
                  <a:srgbClr val="1A1A2E"/>
                </a:solidFill>
                <a:latin typeface="Calibri"/>
              </a:rPr>
              <a:t>▸ Why LLMs tank more than rational agents: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1A1A2E"/>
                </a:solidFill>
                <a:latin typeface="Calibri"/>
              </a:rPr>
              <a:t>▸ Qualitative elimination heuristics are sharper than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1A1A2E"/>
                </a:solidFill>
                <a:latin typeface="Calibri"/>
              </a:rPr>
              <a:t>▸ continuous probability-weighted EU calculation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1A1A2E"/>
                </a:solidFill>
                <a:latin typeface="Calibri"/>
              </a:rPr>
              <a:t>▸ LLMs apply a binary 'out of contention' threshold;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1A1A2E"/>
                </a:solidFill>
                <a:latin typeface="Calibri"/>
              </a:rPr>
              <a:t>▸ rational agents use a gradient</a:t>
            </a:r>
          </a:p>
          <a:p>
            <a:r>
              <a:rPr sz="800"/>
              <a:t> 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1A1A2E"/>
                </a:solidFill>
                <a:latin typeface="Calibri"/>
              </a:rPr>
              <a:t>▸ Behavioral finding: real GMs (qualitative reasoners)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1A1A2E"/>
                </a:solidFill>
                <a:latin typeface="Calibri"/>
              </a:rPr>
              <a:t>▸ may tank closer to LLM rate than rational-agent rate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96012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" y="82296"/>
            <a:ext cx="116128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Result 6: Summary — Tanking vs. Competitive Balance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594360"/>
            <a:ext cx="11612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B0BED4"/>
                </a:solidFill>
                <a:latin typeface="Calibri"/>
              </a:rPr>
              <a:t>No mechanism Pareto-dominates; all involve explicit design tradeoffs</a:t>
            </a:r>
          </a:p>
        </p:txBody>
      </p:sp>
      <p:sp>
        <p:nvSpPr>
          <p:cNvPr id="6" name="Rectangle 5"/>
          <p:cNvSpPr/>
          <p:nvPr/>
        </p:nvSpPr>
        <p:spPr>
          <a:xfrm>
            <a:off x="6338255" y="960120"/>
            <a:ext cx="5850696" cy="589788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7_summary_dual_ax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69848"/>
            <a:ext cx="6118799" cy="567842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66855" y="1234440"/>
            <a:ext cx="5484936" cy="553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700" b="1">
                <a:solidFill>
                  <a:srgbClr val="1A1A2E"/>
                </a:solidFill>
                <a:latin typeface="Calibri"/>
              </a:rPr>
              <a:t>▸ The tradeoff is real: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1A1A2E"/>
                </a:solidFill>
                <a:latin typeface="Calibri"/>
              </a:rPr>
              <a:t>▸ Mechanisms that suppress tanking most (COLA, 3-2-1)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1A1A2E"/>
                </a:solidFill>
                <a:latin typeface="Calibri"/>
              </a:rPr>
              <a:t>▸ produce slightly higher tau distance — less tanking means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1A1A2E"/>
                </a:solidFill>
                <a:latin typeface="Calibri"/>
              </a:rPr>
              <a:t>▸ luck dominates more, so standings reflect skill less</a:t>
            </a:r>
          </a:p>
          <a:p>
            <a:r>
              <a:rPr sz="800"/>
              <a:t> </a:t>
            </a:r>
          </a:p>
          <a:p>
            <a:pPr>
              <a:spcBef>
                <a:spcPts val="800"/>
              </a:spcBef>
            </a:pPr>
            <a:r>
              <a:rPr sz="1700" b="1">
                <a:solidFill>
                  <a:srgbClr val="1A1A2E"/>
                </a:solidFill>
                <a:latin typeface="Calibri"/>
              </a:rPr>
              <a:t>▸ But the effect is small: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1A1A2E"/>
                </a:solidFill>
                <a:latin typeface="Calibri"/>
              </a:rPr>
              <a:t>▸ Tau range across all mechanisms: 0.396 – 0.409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1A1A2E"/>
                </a:solidFill>
                <a:latin typeface="Calibri"/>
              </a:rPr>
              <a:t>▸ Much smaller than the honest–rational gap in old calibration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1A1A2E"/>
                </a:solidFill>
                <a:latin typeface="Calibri"/>
              </a:rPr>
              <a:t>▸ V = 200 means most teams compete → standings mostly correct</a:t>
            </a:r>
          </a:p>
          <a:p>
            <a:r>
              <a:rPr sz="800"/>
              <a:t> </a:t>
            </a:r>
          </a:p>
          <a:p>
            <a:pPr>
              <a:spcBef>
                <a:spcPts val="800"/>
              </a:spcBef>
            </a:pPr>
            <a:r>
              <a:rPr sz="1700" b="1">
                <a:solidFill>
                  <a:srgbClr val="1A1A2E"/>
                </a:solidFill>
                <a:latin typeface="Calibri"/>
              </a:rPr>
              <a:t>▸ Policy-relevant insight: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1A1A2E"/>
                </a:solidFill>
                <a:latin typeface="Calibri"/>
              </a:rPr>
              <a:t>▸ There is no free lunch — but the cost is modest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1A1A2E"/>
                </a:solidFill>
                <a:latin typeface="Calibri"/>
              </a:rPr>
              <a:t>▸ All four reforms substantially reduce tanking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1A1A2E"/>
                </a:solidFill>
                <a:latin typeface="Calibri"/>
              </a:rPr>
              <a:t>▸ with only marginal impact on competitive balance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88952" cy="73152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90A4BD"/>
                </a:solidFill>
                <a:latin typeface="Calibri"/>
              </a:rPr>
              <a:t>SECTION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0584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9184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 i="0">
                <a:solidFill>
                  <a:srgbClr val="B0BED4"/>
                </a:solidFill>
                <a:latin typeface="Calibri"/>
              </a:rPr>
              <a:t>Mechanism comparison, policy recommendations, and open questions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96012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" y="82296"/>
            <a:ext cx="116128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Mechanism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594360"/>
            <a:ext cx="11612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B0BED4"/>
                </a:solidFill>
                <a:latin typeface="Calibri"/>
              </a:rPr>
              <a:t>Across implementation simplicity, transparency, tanking elimination, and draft efficiency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051560"/>
            <a:ext cx="1645920" cy="5029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1097280"/>
            <a:ext cx="1554480" cy="42976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Mechanism</a:t>
            </a:r>
          </a:p>
        </p:txBody>
      </p:sp>
      <p:sp>
        <p:nvSpPr>
          <p:cNvPr id="8" name="Rectangle 7"/>
          <p:cNvSpPr/>
          <p:nvPr/>
        </p:nvSpPr>
        <p:spPr>
          <a:xfrm>
            <a:off x="1874520" y="1051560"/>
            <a:ext cx="1371600" cy="5029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38528" y="1097280"/>
            <a:ext cx="1280160" cy="42976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Simplicity
(implement)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6120" y="1051560"/>
            <a:ext cx="1554480" cy="5029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10128" y="1097280"/>
            <a:ext cx="1463040" cy="42976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Transparency
(teams/fans)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00600" y="1051560"/>
            <a:ext cx="1463040" cy="5029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64608" y="1097280"/>
            <a:ext cx="1371600" cy="42976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Tanking
Reduction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1051560"/>
            <a:ext cx="1828800" cy="5029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27648" y="1097280"/>
            <a:ext cx="1737360" cy="42976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Draft Efficiency
(weakest quartile)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92440" y="1051560"/>
            <a:ext cx="3657600" cy="5029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56448" y="1097280"/>
            <a:ext cx="3566160" cy="42976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Theory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" y="1554480"/>
            <a:ext cx="54864" cy="804672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83464" y="1554480"/>
            <a:ext cx="1591056" cy="804672"/>
          </a:xfrm>
          <a:prstGeom prst="rect">
            <a:avLst/>
          </a:prstGeom>
          <a:solidFill>
            <a:srgbClr val="F8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10896" y="1627632"/>
            <a:ext cx="1536192" cy="6949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1B3A6B"/>
                </a:solidFill>
                <a:latin typeface="Calibri"/>
              </a:rPr>
              <a:t>NBA 2019
(baseline)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74520" y="1554480"/>
            <a:ext cx="1371600" cy="804672"/>
          </a:xfrm>
          <a:prstGeom prst="rect">
            <a:avLst/>
          </a:prstGeom>
          <a:solidFill>
            <a:srgbClr val="F8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956816" y="1627632"/>
            <a:ext cx="1261872" cy="6949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★★★★★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46120" y="1554480"/>
            <a:ext cx="1554480" cy="804672"/>
          </a:xfrm>
          <a:prstGeom prst="rect">
            <a:avLst/>
          </a:prstGeom>
          <a:solidFill>
            <a:srgbClr val="F8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28416" y="1627632"/>
            <a:ext cx="1444752" cy="6949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★★★★★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00600" y="1554480"/>
            <a:ext cx="1463040" cy="804672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82896" y="1627632"/>
            <a:ext cx="1353312" cy="6949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E63946"/>
                </a:solidFill>
                <a:latin typeface="Calibri"/>
              </a:rPr>
              <a:t>✗  6.9%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63640" y="1554480"/>
            <a:ext cx="1828800" cy="804672"/>
          </a:xfrm>
          <a:prstGeom prst="rect">
            <a:avLst/>
          </a:prstGeom>
          <a:solidFill>
            <a:srgbClr val="F8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45936" y="1627632"/>
            <a:ext cx="1719072" cy="6949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7.52  (worst)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92440" y="1554480"/>
            <a:ext cx="3657600" cy="804672"/>
          </a:xfrm>
          <a:prstGeom prst="rect">
            <a:avLst/>
          </a:prstGeom>
          <a:solidFill>
            <a:srgbClr val="F8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74736" y="1627632"/>
            <a:ext cx="3547872" cy="6949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Impossibility applies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28600" y="2359152"/>
            <a:ext cx="54864" cy="80467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83464" y="2359152"/>
            <a:ext cx="1591056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10896" y="2432304"/>
            <a:ext cx="1536192" cy="6949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1B3A6B"/>
                </a:solidFill>
                <a:latin typeface="Calibri"/>
              </a:rPr>
              <a:t>Bilevel
(Kazachkov)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874520" y="2359152"/>
            <a:ext cx="13716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956816" y="2432304"/>
            <a:ext cx="1261872" cy="6949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★★★☆☆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46120" y="2359152"/>
            <a:ext cx="155448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328416" y="2432304"/>
            <a:ext cx="1444752" cy="6949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★★★☆☆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800600" y="2359152"/>
            <a:ext cx="1463040" cy="804672"/>
          </a:xfrm>
          <a:prstGeom prst="rect">
            <a:avLst/>
          </a:prstGeom>
          <a:solidFill>
            <a:srgbClr val="E8F4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882896" y="2432304"/>
            <a:ext cx="1353312" cy="6949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2196F3"/>
                </a:solidFill>
                <a:latin typeface="Calibri"/>
              </a:rPr>
              <a:t>✓  3.0%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63640" y="2359152"/>
            <a:ext cx="18288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45936" y="2432304"/>
            <a:ext cx="1719072" cy="6949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6.85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92440" y="2359152"/>
            <a:ext cx="36576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174736" y="2432304"/>
            <a:ext cx="3547872" cy="6949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Eliminates post-lock tanking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28600" y="3163824"/>
            <a:ext cx="54864" cy="804672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83464" y="3163824"/>
            <a:ext cx="1591056" cy="804672"/>
          </a:xfrm>
          <a:prstGeom prst="rect">
            <a:avLst/>
          </a:prstGeom>
          <a:solidFill>
            <a:srgbClr val="F8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10896" y="3236976"/>
            <a:ext cx="1536192" cy="6949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1B3A6B"/>
                </a:solidFill>
                <a:latin typeface="Calibri"/>
              </a:rPr>
              <a:t>COLA
(Highley)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874520" y="3163824"/>
            <a:ext cx="1371600" cy="804672"/>
          </a:xfrm>
          <a:prstGeom prst="rect">
            <a:avLst/>
          </a:prstGeom>
          <a:solidFill>
            <a:srgbClr val="F8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956816" y="3236976"/>
            <a:ext cx="1261872" cy="6949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★★☆☆☆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46120" y="3163824"/>
            <a:ext cx="1554480" cy="804672"/>
          </a:xfrm>
          <a:prstGeom prst="rect">
            <a:avLst/>
          </a:prstGeom>
          <a:solidFill>
            <a:srgbClr val="F8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328416" y="3236976"/>
            <a:ext cx="1444752" cy="6949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★★★☆☆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800600" y="3163824"/>
            <a:ext cx="1463040" cy="804672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882896" y="3236976"/>
            <a:ext cx="1353312" cy="6949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4CAF50"/>
                </a:solidFill>
                <a:latin typeface="Calibri"/>
              </a:rPr>
              <a:t>✓✓  0.5%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263640" y="3163824"/>
            <a:ext cx="1828800" cy="804672"/>
          </a:xfrm>
          <a:prstGeom prst="rect">
            <a:avLst/>
          </a:prstGeom>
          <a:solidFill>
            <a:srgbClr val="F8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345936" y="3236976"/>
            <a:ext cx="1719072" cy="6949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7.21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092440" y="3163824"/>
            <a:ext cx="3657600" cy="804672"/>
          </a:xfrm>
          <a:prstGeom prst="rect">
            <a:avLst/>
          </a:prstGeom>
          <a:solidFill>
            <a:srgbClr val="F8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174736" y="3236976"/>
            <a:ext cx="3547872" cy="6949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Near-full IC proof (Diet COLA)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28600" y="3968496"/>
            <a:ext cx="54864" cy="804672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283464" y="3968496"/>
            <a:ext cx="1591056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10896" y="4041648"/>
            <a:ext cx="1536192" cy="6949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1B3A6B"/>
                </a:solidFill>
                <a:latin typeface="Calibri"/>
              </a:rPr>
              <a:t>Weighted Loss
(ours)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874520" y="3968496"/>
            <a:ext cx="13716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956816" y="4041648"/>
            <a:ext cx="1261872" cy="6949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★★★☆☆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246120" y="3968496"/>
            <a:ext cx="155448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328416" y="4041648"/>
            <a:ext cx="1444752" cy="6949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★★☆☆☆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800600" y="3968496"/>
            <a:ext cx="1463040" cy="804672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882896" y="4041648"/>
            <a:ext cx="1353312" cy="6949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FF9800"/>
                </a:solidFill>
                <a:latin typeface="Calibri"/>
              </a:rPr>
              <a:t>✓  2.3%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263640" y="3968496"/>
            <a:ext cx="18288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345936" y="4041648"/>
            <a:ext cx="1719072" cy="6949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6.92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092440" y="3968496"/>
            <a:ext cx="36576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174736" y="4041648"/>
            <a:ext cx="3547872" cy="6949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Continuous decay, no cutoff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28600" y="4773168"/>
            <a:ext cx="54864" cy="804672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283464" y="4773168"/>
            <a:ext cx="1591056" cy="804672"/>
          </a:xfrm>
          <a:prstGeom prst="rect">
            <a:avLst/>
          </a:prstGeom>
          <a:solidFill>
            <a:srgbClr val="F8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10896" y="4846320"/>
            <a:ext cx="1536192" cy="6949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1B3A6B"/>
                </a:solidFill>
                <a:latin typeface="Calibri"/>
              </a:rPr>
              <a:t>NBA 3-2-1
(proposed)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874520" y="4773168"/>
            <a:ext cx="1371600" cy="804672"/>
          </a:xfrm>
          <a:prstGeom prst="rect">
            <a:avLst/>
          </a:prstGeom>
          <a:solidFill>
            <a:srgbClr val="F8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956816" y="4846320"/>
            <a:ext cx="1261872" cy="6949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★★★★★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246120" y="4773168"/>
            <a:ext cx="1554480" cy="804672"/>
          </a:xfrm>
          <a:prstGeom prst="rect">
            <a:avLst/>
          </a:prstGeom>
          <a:solidFill>
            <a:srgbClr val="F8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328416" y="4846320"/>
            <a:ext cx="1444752" cy="6949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★★★★☆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800600" y="4773168"/>
            <a:ext cx="1463040" cy="804672"/>
          </a:xfrm>
          <a:prstGeom prst="rect">
            <a:avLst/>
          </a:prstGeom>
          <a:solidFill>
            <a:srgbClr val="F3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882896" y="4846320"/>
            <a:ext cx="1353312" cy="6949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9C27B0"/>
                </a:solidFill>
                <a:latin typeface="Calibri"/>
              </a:rPr>
              <a:t>✓✓  0.9%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263640" y="4773168"/>
            <a:ext cx="1828800" cy="804672"/>
          </a:xfrm>
          <a:prstGeom prst="rect">
            <a:avLst/>
          </a:prstGeom>
          <a:solidFill>
            <a:srgbClr val="F3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345936" y="4846320"/>
            <a:ext cx="1719072" cy="6949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9C27B0"/>
                </a:solidFill>
                <a:latin typeface="Calibri"/>
              </a:rPr>
              <a:t>6.57  (BEST ★)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092440" y="4773168"/>
            <a:ext cx="3657600" cy="804672"/>
          </a:xfrm>
          <a:prstGeom prst="rect">
            <a:avLst/>
          </a:prstGeom>
          <a:solidFill>
            <a:srgbClr val="F8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174736" y="4846320"/>
            <a:ext cx="3547872" cy="6949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Inverts Tier A incentive</a:t>
            </a:r>
          </a:p>
        </p:txBody>
      </p:sp>
      <p:sp>
        <p:nvSpPr>
          <p:cNvPr id="83" name="Rectangle 82"/>
          <p:cNvSpPr/>
          <p:nvPr/>
        </p:nvSpPr>
        <p:spPr>
          <a:xfrm>
            <a:off x="228600" y="5669280"/>
            <a:ext cx="11521440" cy="347472"/>
          </a:xfrm>
          <a:prstGeom prst="rect">
            <a:avLst/>
          </a:prstGeom>
          <a:solidFill>
            <a:srgbClr val="F3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320040" y="5696712"/>
            <a:ext cx="11338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9C27B0"/>
                </a:solidFill>
                <a:latin typeface="Calibri"/>
              </a:rPr>
              <a:t>★  NBA 3-2-1 achieves the best tanking reduction + draft efficiency combination with highest implementation simplicity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96012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" y="82296"/>
            <a:ext cx="116128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What Should the NBA Do?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594360"/>
            <a:ext cx="11612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B0BED4"/>
                </a:solidFill>
                <a:latin typeface="Calibri"/>
              </a:rPr>
              <a:t>Our simulation-based policy recommendations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051560"/>
            <a:ext cx="3657600" cy="347472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097280"/>
            <a:ext cx="35204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Near-term: NBA 3-2-1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399032"/>
            <a:ext cx="3657600" cy="4407408"/>
          </a:xfrm>
          <a:prstGeom prst="rect">
            <a:avLst/>
          </a:prstGeom>
          <a:solidFill>
            <a:srgbClr val="F8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527048"/>
            <a:ext cx="349300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 b="0">
                <a:solidFill>
                  <a:srgbClr val="1A1A2E"/>
                </a:solidFill>
                <a:latin typeface="Calibri"/>
              </a:rPr>
              <a:t>▸ Easiest to implement — just rebalance balls</a:t>
            </a:r>
          </a:p>
          <a:p>
            <a:pPr>
              <a:spcBef>
                <a:spcPts val="500"/>
              </a:spcBef>
            </a:pPr>
            <a:r>
              <a:rPr sz="1400" b="0">
                <a:solidFill>
                  <a:srgbClr val="1A1A2E"/>
                </a:solidFill>
                <a:latin typeface="Calibri"/>
              </a:rPr>
              <a:t>▸ Highest transparency — rule is intuitive</a:t>
            </a:r>
          </a:p>
          <a:p>
            <a:pPr>
              <a:spcBef>
                <a:spcPts val="500"/>
              </a:spcBef>
            </a:pPr>
            <a:r>
              <a:rPr sz="1400" b="0">
                <a:solidFill>
                  <a:srgbClr val="1A1A2E"/>
                </a:solidFill>
                <a:latin typeface="Calibri"/>
              </a:rPr>
              <a:t>▸ 0.9% tanking  +  6.57 draft efficiency</a:t>
            </a:r>
          </a:p>
          <a:p>
            <a:pPr>
              <a:spcBef>
                <a:spcPts val="500"/>
              </a:spcBef>
            </a:pPr>
            <a:r>
              <a:rPr sz="1400" b="0">
                <a:solidFill>
                  <a:srgbClr val="1A1A2E"/>
                </a:solidFill>
                <a:latin typeface="Calibri"/>
              </a:rPr>
              <a:t>▸ No multi-year ramp-up required</a:t>
            </a:r>
          </a:p>
          <a:p>
            <a:pPr>
              <a:spcBef>
                <a:spcPts val="500"/>
              </a:spcBef>
            </a:pPr>
            <a:r>
              <a:rPr sz="1400" b="0">
                <a:solidFill>
                  <a:srgbClr val="1A1A2E"/>
                </a:solidFill>
                <a:latin typeface="Calibri"/>
              </a:rPr>
              <a:t>▸ Already under serious consideration by NBA</a:t>
            </a:r>
          </a:p>
          <a:p>
            <a:r>
              <a:rPr sz="700"/>
              <a:t> </a:t>
            </a:r>
          </a:p>
          <a:p>
            <a:pPr>
              <a:spcBef>
                <a:spcPts val="500"/>
              </a:spcBef>
            </a:pPr>
            <a:r>
              <a:rPr sz="1400" b="0">
                <a:solidFill>
                  <a:srgbClr val="1A1A2E"/>
                </a:solidFill>
                <a:latin typeface="Calibri"/>
              </a:rPr>
              <a:t>▸ Limitation: does not fully eliminate tanking;</a:t>
            </a:r>
          </a:p>
          <a:p>
            <a:pPr>
              <a:spcBef>
                <a:spcPts val="500"/>
              </a:spcBef>
            </a:pPr>
            <a:r>
              <a:rPr sz="1400" b="0">
                <a:solidFill>
                  <a:srgbClr val="1A1A2E"/>
                </a:solidFill>
                <a:latin typeface="Calibri"/>
              </a:rPr>
              <a:t>▸ restructures rather than removes the incentive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23360" y="1051560"/>
            <a:ext cx="3657600" cy="34747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0" y="1097280"/>
            <a:ext cx="35204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Medium-term: Bilevel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23360" y="1399032"/>
            <a:ext cx="3657600" cy="4407408"/>
          </a:xfrm>
          <a:prstGeom prst="rect">
            <a:avLst/>
          </a:prstGeom>
          <a:solidFill>
            <a:srgbClr val="F8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0" y="1527048"/>
            <a:ext cx="349300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 b="0">
                <a:solidFill>
                  <a:srgbClr val="1A1A2E"/>
                </a:solidFill>
                <a:latin typeface="Calibri"/>
              </a:rPr>
              <a:t>▸ Lock standings at game 70 (public, pre-announced)</a:t>
            </a:r>
          </a:p>
          <a:p>
            <a:pPr>
              <a:spcBef>
                <a:spcPts val="500"/>
              </a:spcBef>
            </a:pPr>
            <a:r>
              <a:rPr sz="1400" b="0">
                <a:solidFill>
                  <a:srgbClr val="1A1A2E"/>
                </a:solidFill>
                <a:latin typeface="Calibri"/>
              </a:rPr>
              <a:t>▸ 3.0% tanking — meaningful reduction</a:t>
            </a:r>
          </a:p>
          <a:p>
            <a:pPr>
              <a:spcBef>
                <a:spcPts val="500"/>
              </a:spcBef>
            </a:pPr>
            <a:r>
              <a:rPr sz="1400" b="0">
                <a:solidFill>
                  <a:srgbClr val="1A1A2E"/>
                </a:solidFill>
                <a:latin typeface="Calibri"/>
              </a:rPr>
              <a:t>▸ Strong theoretical basis (Kazachkov 2020)</a:t>
            </a:r>
          </a:p>
          <a:p>
            <a:pPr>
              <a:spcBef>
                <a:spcPts val="500"/>
              </a:spcBef>
            </a:pPr>
            <a:r>
              <a:rPr sz="1400" b="0">
                <a:solidFill>
                  <a:srgbClr val="1A1A2E"/>
                </a:solidFill>
                <a:latin typeface="Calibri"/>
              </a:rPr>
              <a:t>▸ No infrastructure overhaul required</a:t>
            </a:r>
          </a:p>
          <a:p>
            <a:r>
              <a:rPr sz="700"/>
              <a:t> </a:t>
            </a:r>
          </a:p>
          <a:p>
            <a:pPr>
              <a:spcBef>
                <a:spcPts val="500"/>
              </a:spcBef>
            </a:pPr>
            <a:r>
              <a:rPr sz="1400" b="0">
                <a:solidFill>
                  <a:srgbClr val="1A1A2E"/>
                </a:solidFill>
                <a:latin typeface="Calibri"/>
              </a:rPr>
              <a:t>▸ Limitation: pre-breakpoint incentives remain;</a:t>
            </a:r>
          </a:p>
          <a:p>
            <a:pPr>
              <a:spcBef>
                <a:spcPts val="500"/>
              </a:spcBef>
            </a:pPr>
            <a:r>
              <a:rPr sz="1400" b="0">
                <a:solidFill>
                  <a:srgbClr val="1A1A2E"/>
                </a:solidFill>
                <a:latin typeface="Calibri"/>
              </a:rPr>
              <a:t>▸ fans need education on why standings 'freeze'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18120" y="1051560"/>
            <a:ext cx="3657600" cy="347472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09560" y="1097280"/>
            <a:ext cx="35204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Long-term: COLA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18120" y="1399032"/>
            <a:ext cx="3657600" cy="4407408"/>
          </a:xfrm>
          <a:prstGeom prst="rect">
            <a:avLst/>
          </a:prstGeom>
          <a:solidFill>
            <a:srgbClr val="F8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9560" y="1527048"/>
            <a:ext cx="349300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 b="0">
                <a:solidFill>
                  <a:srgbClr val="1A1A2E"/>
                </a:solidFill>
                <a:latin typeface="Calibri"/>
              </a:rPr>
              <a:t>▸ Theoretically strongest IC guarantee</a:t>
            </a:r>
          </a:p>
          <a:p>
            <a:pPr>
              <a:spcBef>
                <a:spcPts val="500"/>
              </a:spcBef>
            </a:pPr>
            <a:r>
              <a:rPr sz="1400" b="0">
                <a:solidFill>
                  <a:srgbClr val="1A1A2E"/>
                </a:solidFill>
                <a:latin typeface="Calibri"/>
              </a:rPr>
              <a:t>▸ 0.5% tanking — near-zero</a:t>
            </a:r>
          </a:p>
          <a:p>
            <a:pPr>
              <a:spcBef>
                <a:spcPts val="500"/>
              </a:spcBef>
            </a:pPr>
            <a:r>
              <a:rPr sz="1400" b="0">
                <a:solidFill>
                  <a:srgbClr val="1A1A2E"/>
                </a:solidFill>
                <a:latin typeface="Calibri"/>
              </a:rPr>
              <a:t>▸ Chronically weak teams accumulate tickets</a:t>
            </a:r>
          </a:p>
          <a:p>
            <a:pPr>
              <a:spcBef>
                <a:spcPts val="500"/>
              </a:spcBef>
            </a:pPr>
            <a:r>
              <a:rPr sz="1400" b="0">
                <a:solidFill>
                  <a:srgbClr val="1A1A2E"/>
                </a:solidFill>
                <a:latin typeface="Calibri"/>
              </a:rPr>
              <a:t>▸ Formally proved (Diet COLA variant)</a:t>
            </a:r>
          </a:p>
          <a:p>
            <a:r>
              <a:rPr sz="700"/>
              <a:t> </a:t>
            </a:r>
          </a:p>
          <a:p>
            <a:pPr>
              <a:spcBef>
                <a:spcPts val="500"/>
              </a:spcBef>
            </a:pPr>
            <a:r>
              <a:rPr sz="1400" b="0">
                <a:solidFill>
                  <a:srgbClr val="1A1A2E"/>
                </a:solidFill>
                <a:latin typeface="Calibri"/>
              </a:rPr>
              <a:t>▸ Limitation: multi-year accounting complexity;</a:t>
            </a:r>
          </a:p>
          <a:p>
            <a:pPr>
              <a:spcBef>
                <a:spcPts val="500"/>
              </a:spcBef>
            </a:pPr>
            <a:r>
              <a:rPr sz="1400" b="0">
                <a:solidFill>
                  <a:srgbClr val="1A1A2E"/>
                </a:solidFill>
                <a:latin typeface="Calibri"/>
              </a:rPr>
              <a:t>▸ requires transition plan for existing teams;</a:t>
            </a:r>
          </a:p>
          <a:p>
            <a:pPr>
              <a:spcBef>
                <a:spcPts val="500"/>
              </a:spcBef>
            </a:pPr>
            <a:r>
              <a:rPr sz="1400" b="0">
                <a:solidFill>
                  <a:srgbClr val="1A1A2E"/>
                </a:solidFill>
                <a:latin typeface="Calibri"/>
              </a:rPr>
              <a:t>▸ NBA historically reluctant to restructure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" y="5897880"/>
            <a:ext cx="11704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Regardless of mechanism: the Banchio impossibility means we manage, not eliminate, tanking incentives.  The goal is a regime where the cost of tanking is higher than the benefit for most teams, most of the time.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96012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" y="82296"/>
            <a:ext cx="116128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Key Findings &amp; Open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97280"/>
            <a:ext cx="557784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900" b="1" i="0">
                <a:solidFill>
                  <a:srgbClr val="1B3A6B"/>
                </a:solidFill>
                <a:latin typeface="Calibri"/>
              </a:rPr>
              <a:t>What We Found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554480"/>
            <a:ext cx="5577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500" b="1">
                <a:solidFill>
                  <a:srgbClr val="1A1A2E"/>
                </a:solidFill>
                <a:latin typeface="Calibri"/>
              </a:rPr>
              <a:t>▸ 1. All four reforms reduce tanking from the 6.9% NBA baseline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555555"/>
                </a:solidFill>
                <a:latin typeface="Calibri"/>
              </a:rPr>
              <a:t>  – COLA (0.5%) and NBA 3-2-1 (0.9%) achieve strongest suppression</a:t>
            </a:r>
          </a:p>
          <a:p>
            <a:r>
              <a:rPr sz="700"/>
              <a:t> </a:t>
            </a:r>
          </a:p>
          <a:p>
            <a:pPr>
              <a:spcBef>
                <a:spcPts val="500"/>
              </a:spcBef>
            </a:pPr>
            <a:r>
              <a:rPr sz="1500" b="1">
                <a:solidFill>
                  <a:srgbClr val="1A1A2E"/>
                </a:solidFill>
                <a:latin typeface="Calibri"/>
              </a:rPr>
              <a:t>▸ 2. Tanking is concentrated far from the playoff bubble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555555"/>
                </a:solidFill>
                <a:latin typeface="Calibri"/>
              </a:rPr>
              <a:t>  – 76% of decisions: team ranked 21st or worse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555555"/>
                </a:solidFill>
                <a:latin typeface="Calibri"/>
              </a:rPr>
              <a:t>  – High V = 200 keeps bubble teams competing</a:t>
            </a:r>
          </a:p>
          <a:p>
            <a:r>
              <a:rPr sz="700"/>
              <a:t> </a:t>
            </a:r>
          </a:p>
          <a:p>
            <a:pPr>
              <a:spcBef>
                <a:spcPts val="500"/>
              </a:spcBef>
            </a:pPr>
            <a:r>
              <a:rPr sz="1500" b="1">
                <a:solidFill>
                  <a:srgbClr val="1A1A2E"/>
                </a:solidFill>
                <a:latin typeface="Calibri"/>
              </a:rPr>
              <a:t>▸ 3. Honest equilibrium is stable but not robust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555555"/>
                </a:solidFill>
                <a:latin typeface="Calibri"/>
              </a:rPr>
              <a:t>  – 1 rational team → 0.2% aggregate tanking (not contagious)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555555"/>
                </a:solidFill>
                <a:latin typeface="Calibri"/>
              </a:rPr>
              <a:t>  – But scales linearly: each rational agent adds ~0.2 pp</a:t>
            </a:r>
          </a:p>
          <a:p>
            <a:r>
              <a:rPr sz="700"/>
              <a:t> </a:t>
            </a:r>
          </a:p>
          <a:p>
            <a:pPr>
              <a:spcBef>
                <a:spcPts val="500"/>
              </a:spcBef>
            </a:pPr>
            <a:r>
              <a:rPr sz="1500" b="1">
                <a:solidFill>
                  <a:srgbClr val="1A1A2E"/>
                </a:solidFill>
                <a:latin typeface="Calibri"/>
              </a:rPr>
              <a:t>▸ 4. LLM agents tank nearly 2× more than rational agents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555555"/>
                </a:solidFill>
                <a:latin typeface="Calibri"/>
              </a:rPr>
              <a:t>  – Qualitative elimination heuristics are sharper than gradient EU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555555"/>
                </a:solidFill>
                <a:latin typeface="Calibri"/>
              </a:rPr>
              <a:t>  – Behavioral realism matters for mechanism design predictions</a:t>
            </a:r>
          </a:p>
          <a:p>
            <a:r>
              <a:rPr sz="700"/>
              <a:t> </a:t>
            </a:r>
          </a:p>
          <a:p>
            <a:pPr>
              <a:spcBef>
                <a:spcPts val="500"/>
              </a:spcBef>
            </a:pPr>
            <a:r>
              <a:rPr sz="1500" b="1">
                <a:solidFill>
                  <a:srgbClr val="1A1A2E"/>
                </a:solidFill>
                <a:latin typeface="Calibri"/>
              </a:rPr>
              <a:t>▸ 5. NBA 3-2-1 has surprisingly strong draft efficiency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555555"/>
                </a:solidFill>
                <a:latin typeface="Calibri"/>
              </a:rPr>
              <a:t>  – Inverted Tier A incentive improves outcomes for weakest teams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1005840"/>
            <a:ext cx="5715000" cy="580644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0" y="1097280"/>
            <a:ext cx="557784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900" b="1" i="0">
                <a:solidFill>
                  <a:srgbClr val="1B3A6B"/>
                </a:solidFill>
                <a:latin typeface="Calibri"/>
              </a:rPr>
              <a:t>Open Questions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554480"/>
            <a:ext cx="5577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500" b="1">
                <a:solidFill>
                  <a:srgbClr val="1A1A2E"/>
                </a:solidFill>
                <a:latin typeface="Calibri"/>
              </a:rPr>
              <a:t>▸ Draft class strength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A1A2E"/>
                </a:solidFill>
                <a:latin typeface="Calibri"/>
              </a:rPr>
              <a:t>▸ We hold D(k) fixed across seasons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A1A2E"/>
                </a:solidFill>
                <a:latin typeface="Calibri"/>
              </a:rPr>
              <a:t>▸ In a 'generational draft year', D(1) &gt;&gt; 100 pts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A1A2E"/>
                </a:solidFill>
                <a:latin typeface="Calibri"/>
              </a:rPr>
              <a:t>▸ Would mechanisms hold under variable draft quality?</a:t>
            </a:r>
          </a:p>
          <a:p>
            <a:r>
              <a:rPr sz="700"/>
              <a:t> </a:t>
            </a:r>
          </a:p>
          <a:p>
            <a:pPr>
              <a:spcBef>
                <a:spcPts val="500"/>
              </a:spcBef>
            </a:pPr>
            <a:r>
              <a:rPr sz="1500" b="1">
                <a:solidFill>
                  <a:srgbClr val="1A1A2E"/>
                </a:solidFill>
                <a:latin typeface="Calibri"/>
              </a:rPr>
              <a:t>▸ Full 30-team LLM simulation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A1A2E"/>
                </a:solidFill>
                <a:latin typeface="Calibri"/>
              </a:rPr>
              <a:t>▸ We ran 10 seasons, 1 mechanism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A1A2E"/>
                </a:solidFill>
                <a:latin typeface="Calibri"/>
              </a:rPr>
              <a:t>▸ Full 50-season sweep across all mechanisms: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A1A2E"/>
                </a:solidFill>
                <a:latin typeface="Calibri"/>
              </a:rPr>
              <a:t>▸ Do LLMs discover mechanism-specific strategies?</a:t>
            </a:r>
          </a:p>
          <a:p>
            <a:r>
              <a:rPr sz="700"/>
              <a:t> </a:t>
            </a:r>
          </a:p>
          <a:p>
            <a:pPr>
              <a:spcBef>
                <a:spcPts val="500"/>
              </a:spcBef>
            </a:pPr>
            <a:r>
              <a:rPr sz="1500" b="1">
                <a:solidFill>
                  <a:srgbClr val="1A1A2E"/>
                </a:solidFill>
                <a:latin typeface="Calibri"/>
              </a:rPr>
              <a:t>▸ Is some tanking actually optimal?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A1A2E"/>
                </a:solidFill>
                <a:latin typeface="Calibri"/>
              </a:rPr>
              <a:t>▸ Tau paradox: tanking can IMPROVE standings-skill alignment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A1A2E"/>
                </a:solidFill>
                <a:latin typeface="Calibri"/>
              </a:rPr>
              <a:t>▸ If weak teams intentionally lose, draft redistribution works better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A1A2E"/>
                </a:solidFill>
                <a:latin typeface="Calibri"/>
              </a:rPr>
              <a:t>▸ Is there a socially optimal tanking rate &gt; 0?</a:t>
            </a:r>
          </a:p>
          <a:p>
            <a:r>
              <a:rPr sz="700"/>
              <a:t> </a:t>
            </a:r>
          </a:p>
          <a:p>
            <a:pPr>
              <a:spcBef>
                <a:spcPts val="500"/>
              </a:spcBef>
            </a:pPr>
            <a:r>
              <a:rPr sz="1500" b="1">
                <a:solidFill>
                  <a:srgbClr val="1A1A2E"/>
                </a:solidFill>
                <a:latin typeface="Calibri"/>
              </a:rPr>
              <a:t>▸ Adversarial robustness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A1A2E"/>
                </a:solidFill>
                <a:latin typeface="Calibri"/>
              </a:rPr>
              <a:t>▸ What if teams learn each other's strategies over time?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A1A2E"/>
                </a:solidFill>
                <a:latin typeface="Calibri"/>
              </a:rPr>
              <a:t>▸ Multi-agent RL rather than static EU maximization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46120"/>
            <a:ext cx="12188952" cy="64008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091672" y="0"/>
            <a:ext cx="1097280" cy="109728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902952" y="0"/>
            <a:ext cx="1188720" cy="1097280"/>
          </a:xfrm>
          <a:prstGeom prst="rect">
            <a:avLst/>
          </a:prstGeom>
          <a:solidFill>
            <a:srgbClr val="264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1005840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52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0604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0" i="0">
                <a:solidFill>
                  <a:srgbClr val="CCD6E4"/>
                </a:solidFill>
                <a:latin typeface="Calibri"/>
              </a:rPr>
              <a:t>Grant Valentine  &amp;  Kartik Dhinakaran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29000"/>
            <a:ext cx="100584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E63946"/>
                </a:solidFill>
                <a:latin typeface="Calibri"/>
              </a:rPr>
              <a:t>Questions?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97680"/>
            <a:ext cx="25603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000" b="1" i="0">
                <a:solidFill>
                  <a:srgbClr val="E63946"/>
                </a:solidFill>
                <a:latin typeface="Calibri"/>
              </a:rPr>
              <a:t>6.9% → 0.5%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800600"/>
            <a:ext cx="25603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90A4BD"/>
                </a:solidFill>
                <a:latin typeface="Calibri"/>
              </a:rPr>
              <a:t>Tanking range
(NBA → COLA)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4297680"/>
            <a:ext cx="25603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000" b="1" i="0">
                <a:solidFill>
                  <a:srgbClr val="E63946"/>
                </a:solidFill>
                <a:latin typeface="Calibri"/>
              </a:rPr>
              <a:t>2×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4800600"/>
            <a:ext cx="25603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90A4BD"/>
                </a:solidFill>
                <a:latin typeface="Calibri"/>
              </a:rPr>
              <a:t>LLM tanks more
than rational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4297680"/>
            <a:ext cx="25603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000" b="1" i="0">
                <a:solidFill>
                  <a:srgbClr val="E63946"/>
                </a:solidFill>
                <a:latin typeface="Calibri"/>
              </a:rPr>
              <a:t>6.57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800600"/>
            <a:ext cx="25603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90A4BD"/>
                </a:solidFill>
                <a:latin typeface="Calibri"/>
              </a:rPr>
              <a:t>Best draft efficiency
(NBA 3-2-1)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4297680"/>
            <a:ext cx="25603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000" b="1" i="0">
                <a:solidFill>
                  <a:srgbClr val="E63946"/>
                </a:solidFill>
                <a:latin typeface="Calibri"/>
              </a:rPr>
              <a:t>50 seasons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4800600"/>
            <a:ext cx="25603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90A4BD"/>
                </a:solidFill>
                <a:latin typeface="Calibri"/>
              </a:rPr>
              <a:t>Simulated per
mechanism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943600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07890"/>
                </a:solidFill>
                <a:latin typeface="Calibri"/>
              </a:rPr>
              <a:t>Code: github.com/[repo]  |  Data: tanking_sim.db  |  Contact: grantsvalentine@gmail.com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