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F2DB8E-8D47-40B9-910E-D9EF6D4CC11E}">
  <a:tblStyle styleId="{A7F2DB8E-8D47-40B9-910E-D9EF6D4CC11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e4644d00f2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g3e4644d00f2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e4644d00f2_1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4644d00f2_1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4644d00f2_1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e4644d00f2_1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6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1097280"/>
            <a:ext cx="73152" cy="2560320"/>
          </a:xfrm>
          <a:prstGeom prst="rect">
            <a:avLst/>
          </a:prstGeom>
          <a:solidFill>
            <a:srgbClr val="4361EE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492240" y="365760"/>
            <a:ext cx="914400" cy="914400"/>
          </a:xfrm>
          <a:prstGeom prst="ellipse">
            <a:avLst/>
          </a:prstGeom>
          <a:solidFill>
            <a:srgbClr val="4361EE">
              <a:alpha val="25098"/>
            </a:srgbClr>
          </a:solidFill>
          <a:ln cap="flat" cmpd="sng" w="9525">
            <a:solidFill>
              <a:srgbClr val="7B9CF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680960" y="914400"/>
            <a:ext cx="685800" cy="685800"/>
          </a:xfrm>
          <a:prstGeom prst="ellipse">
            <a:avLst/>
          </a:prstGeom>
          <a:solidFill>
            <a:srgbClr val="4361EE">
              <a:alpha val="21960"/>
            </a:srgbClr>
          </a:solidFill>
          <a:ln cap="flat" cmpd="sng" w="9525">
            <a:solidFill>
              <a:srgbClr val="7B9CF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949440" y="1828800"/>
            <a:ext cx="502920" cy="502920"/>
          </a:xfrm>
          <a:prstGeom prst="ellipse">
            <a:avLst/>
          </a:prstGeom>
          <a:solidFill>
            <a:srgbClr val="4361EE">
              <a:alpha val="20000"/>
            </a:srgbClr>
          </a:solidFill>
          <a:ln cap="flat" cmpd="sng" w="9525">
            <a:solidFill>
              <a:srgbClr val="7B9CF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8046720" y="320040"/>
            <a:ext cx="457200" cy="457200"/>
          </a:xfrm>
          <a:prstGeom prst="ellipse">
            <a:avLst/>
          </a:prstGeom>
          <a:solidFill>
            <a:srgbClr val="4361EE">
              <a:alpha val="18039"/>
            </a:srgbClr>
          </a:solidFill>
          <a:ln cap="flat" cmpd="sng" w="9525">
            <a:solidFill>
              <a:srgbClr val="7B9CF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126480" y="1737360"/>
            <a:ext cx="365760" cy="365760"/>
          </a:xfrm>
          <a:prstGeom prst="ellipse">
            <a:avLst/>
          </a:prstGeom>
          <a:solidFill>
            <a:srgbClr val="4361EE">
              <a:alpha val="14901"/>
            </a:srgbClr>
          </a:solidFill>
          <a:ln cap="flat" cmpd="sng" w="9525">
            <a:solidFill>
              <a:srgbClr val="7B9CF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8321040" y="1920240"/>
            <a:ext cx="548640" cy="548640"/>
          </a:xfrm>
          <a:prstGeom prst="ellipse">
            <a:avLst/>
          </a:prstGeom>
          <a:solidFill>
            <a:srgbClr val="4361EE">
              <a:alpha val="18039"/>
            </a:srgbClr>
          </a:solidFill>
          <a:ln cap="flat" cmpd="sng" w="9525">
            <a:solidFill>
              <a:srgbClr val="7B9CF5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685800" y="1051560"/>
            <a:ext cx="5486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libri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ALIGNING INCENTIVES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libri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THE NBA DRAFT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85800" y="2606040"/>
            <a:ext cx="5760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CF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B9CF5"/>
                </a:solidFill>
                <a:latin typeface="Calibri"/>
                <a:ea typeface="Calibri"/>
                <a:cs typeface="Calibri"/>
                <a:sym typeface="Calibri"/>
              </a:rPr>
              <a:t>A Multi-Agent Mechanism Design Study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85800" y="3127248"/>
            <a:ext cx="5943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DB5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7B8DB5"/>
                </a:solidFill>
                <a:latin typeface="Calibri"/>
                <a:ea typeface="Calibri"/>
                <a:cs typeface="Calibri"/>
                <a:sym typeface="Calibri"/>
              </a:rPr>
              <a:t>"Every NBA draft reform since 1985 has failed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DB5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7B8DB5"/>
                </a:solidFill>
                <a:latin typeface="Calibri"/>
                <a:ea typeface="Calibri"/>
                <a:cs typeface="Calibri"/>
                <a:sym typeface="Calibri"/>
              </a:rPr>
              <a:t>to stop teams from losing on purpose"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0" y="4636008"/>
            <a:ext cx="9144000" cy="507492"/>
          </a:xfrm>
          <a:prstGeom prst="rect">
            <a:avLst/>
          </a:prstGeom>
          <a:solidFill>
            <a:srgbClr val="0C0E1C"/>
          </a:solidFill>
          <a:ln cap="flat" cmpd="sng" w="12700">
            <a:solidFill>
              <a:srgbClr val="0C0E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457200" y="47365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5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E3A5C"/>
                </a:solidFill>
                <a:latin typeface="Calibri"/>
                <a:ea typeface="Calibri"/>
                <a:cs typeface="Calibri"/>
                <a:sym typeface="Calibri"/>
              </a:rPr>
              <a:t>Grant Valentine  ·  Kartik Dhinakaran  ·  Mechanism Design  ·  May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375375" y="710148"/>
            <a:ext cx="8514600" cy="390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NBA background, draft system background, introduce the incentives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457200" y="146304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ACT I  ·  THE PROBLEM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457200" y="402336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50"/>
              <a:buFont typeface="Calibri"/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This isn't a calibration problem — it's mathematically unavoidable under any standings-based system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" name="Google Shape;41;p5"/>
          <p:cNvCxnSpPr/>
          <p:nvPr/>
        </p:nvCxnSpPr>
        <p:spPr>
          <a:xfrm>
            <a:off x="457200" y="1097280"/>
            <a:ext cx="832104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5"/>
          <p:cNvSpPr/>
          <p:nvPr/>
        </p:nvSpPr>
        <p:spPr>
          <a:xfrm>
            <a:off x="8412480" y="489204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/ 15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" name="Google Shape;43;p5"/>
          <p:cNvGraphicFramePr/>
          <p:nvPr/>
        </p:nvGraphicFramePr>
        <p:xfrm>
          <a:off x="45720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{A7F2DB8E-8D47-40B9-910E-D9EF6D4CC11E}</a:tableStyleId>
              </a:tblPr>
              <a:tblGrid>
                <a:gridCol w="3474725"/>
                <a:gridCol w="4846325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the NBA tried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happened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62A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Equal odds lottery  (1985)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Conspiracy theories; Patrick Ewing to New York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Weighted odds  (1990)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Tanking spiked to 2.2× the expected loss rate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Flattened top-3 odds  (2019)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Race to the bottom became a race to 4th–7th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Google Shape;44;p5"/>
          <p:cNvSpPr/>
          <p:nvPr/>
        </p:nvSpPr>
        <p:spPr>
          <a:xfrm>
            <a:off x="457200" y="3410712"/>
            <a:ext cx="8321040" cy="1325880"/>
          </a:xfrm>
          <a:prstGeom prst="rect">
            <a:avLst/>
          </a:prstGeom>
          <a:solidFill>
            <a:srgbClr val="121526"/>
          </a:solidFill>
          <a:ln cap="flat" cmpd="sng" w="12700">
            <a:solidFill>
              <a:srgbClr val="1215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457200" y="3410712"/>
            <a:ext cx="73152" cy="1325880"/>
          </a:xfrm>
          <a:prstGeom prst="rect">
            <a:avLst/>
          </a:prstGeom>
          <a:solidFill>
            <a:srgbClr val="4361EE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658368" y="3529584"/>
            <a:ext cx="79095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CF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B9CF5"/>
                </a:solidFill>
                <a:latin typeface="Calibri"/>
                <a:ea typeface="Calibri"/>
                <a:cs typeface="Calibri"/>
                <a:sym typeface="Calibri"/>
              </a:rPr>
              <a:t>Banchio &amp; Munro (2020) — Theorem 1:  </a:t>
            </a:r>
            <a:r>
              <a:rPr b="0" i="0" lang="en-US" sz="1200" u="none" cap="none" strike="noStrike">
                <a:solidFill>
                  <a:srgbClr val="9BAAC4"/>
                </a:solidFill>
                <a:latin typeface="Calibri"/>
                <a:ea typeface="Calibri"/>
                <a:cs typeface="Calibri"/>
                <a:sym typeface="Calibri"/>
              </a:rPr>
              <a:t>Any non-flat, standings-based allocation will give some team an incentive to tank.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658368" y="4041648"/>
            <a:ext cx="7909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678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4A5678"/>
                </a:solidFill>
                <a:latin typeface="Calibri"/>
                <a:ea typeface="Calibri"/>
                <a:cs typeface="Calibri"/>
                <a:sym typeface="Calibri"/>
              </a:rPr>
              <a:t>This is provable. Not a calibration problem. Not a PR problem. Any standings-based system fails by design.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62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/>
          <p:nvPr/>
        </p:nvSpPr>
        <p:spPr>
          <a:xfrm>
            <a:off x="457200" y="146304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5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E3A5C"/>
                </a:solidFill>
                <a:latin typeface="Calibri"/>
                <a:ea typeface="Calibri"/>
                <a:cs typeface="Calibri"/>
                <a:sym typeface="Calibri"/>
              </a:rPr>
              <a:t>ACT I  ·  THE PROBLEM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8412480" y="489204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/ 15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594360" y="475488"/>
            <a:ext cx="7955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Five proposals claim to fix this but none have been tested against adaptive, strategic agents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6"/>
          <p:cNvCxnSpPr/>
          <p:nvPr/>
        </p:nvCxnSpPr>
        <p:spPr>
          <a:xfrm>
            <a:off x="594360" y="2304288"/>
            <a:ext cx="8046720" cy="0"/>
          </a:xfrm>
          <a:prstGeom prst="straightConnector1">
            <a:avLst/>
          </a:prstGeom>
          <a:noFill/>
          <a:ln cap="flat" cmpd="sng" w="25400">
            <a:solidFill>
              <a:srgbClr val="252B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" name="Google Shape;58;p6"/>
          <p:cNvCxnSpPr/>
          <p:nvPr/>
        </p:nvCxnSpPr>
        <p:spPr>
          <a:xfrm>
            <a:off x="8458200" y="2121408"/>
            <a:ext cx="201168" cy="182880"/>
          </a:xfrm>
          <a:prstGeom prst="straightConnector1">
            <a:avLst/>
          </a:prstGeom>
          <a:noFill/>
          <a:ln cap="flat" cmpd="sng" w="25400">
            <a:solidFill>
              <a:srgbClr val="252B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6"/>
          <p:cNvCxnSpPr/>
          <p:nvPr/>
        </p:nvCxnSpPr>
        <p:spPr>
          <a:xfrm flipH="1" rot="10800000">
            <a:off x="8458200" y="2304288"/>
            <a:ext cx="201168" cy="182880"/>
          </a:xfrm>
          <a:prstGeom prst="straightConnector1">
            <a:avLst/>
          </a:prstGeom>
          <a:noFill/>
          <a:ln cap="flat" cmpd="sng" w="25400">
            <a:solidFill>
              <a:srgbClr val="252B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6"/>
          <p:cNvSpPr/>
          <p:nvPr/>
        </p:nvSpPr>
        <p:spPr>
          <a:xfrm>
            <a:off x="457200" y="239572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← Status quo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132320" y="239572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Most radical 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6"/>
          <p:cNvCxnSpPr/>
          <p:nvPr/>
        </p:nvCxnSpPr>
        <p:spPr>
          <a:xfrm>
            <a:off x="731520" y="2084832"/>
            <a:ext cx="0" cy="219456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6"/>
          <p:cNvSpPr/>
          <p:nvPr/>
        </p:nvSpPr>
        <p:spPr>
          <a:xfrm>
            <a:off x="667512" y="2267712"/>
            <a:ext cx="146304" cy="146304"/>
          </a:xfrm>
          <a:prstGeom prst="ellipse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365760" y="2487168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NBA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320040" y="2971800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A5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E3A5C"/>
                </a:solidFill>
                <a:latin typeface="Calibri"/>
                <a:ea typeface="Calibri"/>
                <a:cs typeface="Calibri"/>
                <a:sym typeface="Calibri"/>
              </a:rPr>
              <a:t>Current system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6"/>
          <p:cNvCxnSpPr/>
          <p:nvPr/>
        </p:nvCxnSpPr>
        <p:spPr>
          <a:xfrm>
            <a:off x="2377440" y="2084832"/>
            <a:ext cx="0" cy="219456"/>
          </a:xfrm>
          <a:prstGeom prst="straightConnector1">
            <a:avLst/>
          </a:prstGeom>
          <a:noFill/>
          <a:ln cap="flat" cmpd="sng" w="254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6"/>
          <p:cNvSpPr/>
          <p:nvPr/>
        </p:nvSpPr>
        <p:spPr>
          <a:xfrm>
            <a:off x="2313432" y="2267712"/>
            <a:ext cx="146304" cy="146304"/>
          </a:xfrm>
          <a:prstGeom prst="ellipse">
            <a:avLst/>
          </a:prstGeom>
          <a:solidFill>
            <a:srgbClr val="4361EE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2011680" y="2487168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NBA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3-2-1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1965960" y="2971800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A5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E3A5C"/>
                </a:solidFill>
                <a:latin typeface="Calibri"/>
                <a:ea typeface="Calibri"/>
                <a:cs typeface="Calibri"/>
                <a:sym typeface="Calibri"/>
              </a:rPr>
              <a:t>Flatter odds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6"/>
          <p:cNvCxnSpPr/>
          <p:nvPr/>
        </p:nvCxnSpPr>
        <p:spPr>
          <a:xfrm>
            <a:off x="4114800" y="2084832"/>
            <a:ext cx="0" cy="219456"/>
          </a:xfrm>
          <a:prstGeom prst="straightConnector1">
            <a:avLst/>
          </a:prstGeom>
          <a:noFill/>
          <a:ln cap="flat" cmpd="sng" w="254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6"/>
          <p:cNvSpPr/>
          <p:nvPr/>
        </p:nvSpPr>
        <p:spPr>
          <a:xfrm>
            <a:off x="4050792" y="2267712"/>
            <a:ext cx="146304" cy="146304"/>
          </a:xfrm>
          <a:prstGeom prst="ellipse">
            <a:avLst/>
          </a:prstGeom>
          <a:solidFill>
            <a:srgbClr val="4361EE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3749040" y="2487168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Weighted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3703320" y="2971800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A5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E3A5C"/>
                </a:solidFill>
                <a:latin typeface="Calibri"/>
                <a:ea typeface="Calibri"/>
                <a:cs typeface="Calibri"/>
                <a:sym typeface="Calibri"/>
              </a:rPr>
              <a:t>Reward close losses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" name="Google Shape;74;p6"/>
          <p:cNvCxnSpPr/>
          <p:nvPr/>
        </p:nvCxnSpPr>
        <p:spPr>
          <a:xfrm>
            <a:off x="5943600" y="2084832"/>
            <a:ext cx="0" cy="219456"/>
          </a:xfrm>
          <a:prstGeom prst="straightConnector1">
            <a:avLst/>
          </a:prstGeom>
          <a:noFill/>
          <a:ln cap="flat" cmpd="sng" w="254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6"/>
          <p:cNvSpPr/>
          <p:nvPr/>
        </p:nvSpPr>
        <p:spPr>
          <a:xfrm>
            <a:off x="5879592" y="2267712"/>
            <a:ext cx="146304" cy="146304"/>
          </a:xfrm>
          <a:prstGeom prst="ellipse">
            <a:avLst/>
          </a:prstGeom>
          <a:solidFill>
            <a:srgbClr val="4361EE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5577840" y="2487168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Bilevel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5532120" y="2971800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A5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E3A5C"/>
                </a:solidFill>
                <a:latin typeface="Calibri"/>
                <a:ea typeface="Calibri"/>
                <a:cs typeface="Calibri"/>
                <a:sym typeface="Calibri"/>
              </a:rPr>
              <a:t>Breakpoint date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6"/>
          <p:cNvCxnSpPr/>
          <p:nvPr/>
        </p:nvCxnSpPr>
        <p:spPr>
          <a:xfrm>
            <a:off x="7635240" y="2084832"/>
            <a:ext cx="0" cy="219456"/>
          </a:xfrm>
          <a:prstGeom prst="straightConnector1">
            <a:avLst/>
          </a:prstGeom>
          <a:noFill/>
          <a:ln cap="flat" cmpd="sng" w="254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6"/>
          <p:cNvSpPr/>
          <p:nvPr/>
        </p:nvSpPr>
        <p:spPr>
          <a:xfrm>
            <a:off x="7571232" y="2267712"/>
            <a:ext cx="146304" cy="146304"/>
          </a:xfrm>
          <a:prstGeom prst="ellipse">
            <a:avLst/>
          </a:prstGeom>
          <a:solidFill>
            <a:srgbClr val="4361EE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7269480" y="2487168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7223760" y="2971800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A5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E3A5C"/>
                </a:solidFill>
                <a:latin typeface="Calibri"/>
                <a:ea typeface="Calibri"/>
                <a:cs typeface="Calibri"/>
                <a:sym typeface="Calibri"/>
              </a:rPr>
              <a:t>Multi-year guarantee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94360" y="3749040"/>
            <a:ext cx="8046720" cy="822960"/>
          </a:xfrm>
          <a:prstGeom prst="rect">
            <a:avLst/>
          </a:prstGeom>
          <a:solidFill>
            <a:srgbClr val="171C35"/>
          </a:solidFill>
          <a:ln cap="flat" cmpd="sng" w="12700">
            <a:solidFill>
              <a:srgbClr val="252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594360" y="3749040"/>
            <a:ext cx="64008" cy="822960"/>
          </a:xfrm>
          <a:prstGeom prst="rect">
            <a:avLst/>
          </a:prstGeom>
          <a:solidFill>
            <a:srgbClr val="4361EE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777240" y="3840480"/>
            <a:ext cx="77906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ABF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8A9ABF"/>
                </a:solidFill>
                <a:latin typeface="Calibri"/>
                <a:ea typeface="Calibri"/>
                <a:cs typeface="Calibri"/>
                <a:sym typeface="Calibri"/>
              </a:rPr>
              <a:t>Our contribution: prior work uses fixed-rule agents. We use adaptive ones — mechanisms must survive agents who learn and respond to incentives in real time.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6981875" y="0"/>
            <a:ext cx="2129700" cy="1097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 table of these to appendix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/>
          <p:nvPr/>
        </p:nvSpPr>
        <p:spPr>
          <a:xfrm>
            <a:off x="457200" y="146304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ACT II  ·  OUR APPROACH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457200" y="402336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50"/>
              <a:buFont typeface="Calibri"/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 built a simulation where 30 AI-powered teams develop strategy endogenously </a:t>
            </a:r>
            <a:r>
              <a:rPr b="1" lang="en-US" sz="1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b="1" i="0" lang="en-US" sz="1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no hardcoded rules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7"/>
          <p:cNvCxnSpPr/>
          <p:nvPr/>
        </p:nvCxnSpPr>
        <p:spPr>
          <a:xfrm>
            <a:off x="457200" y="1097280"/>
            <a:ext cx="832104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7"/>
          <p:cNvSpPr/>
          <p:nvPr/>
        </p:nvSpPr>
        <p:spPr>
          <a:xfrm>
            <a:off x="8412480" y="489204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/ 15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11480" y="1280160"/>
            <a:ext cx="1572768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502920" y="1408176"/>
            <a:ext cx="13898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30 Teams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502920" y="1938528"/>
            <a:ext cx="13898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NBA skill distribution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7"/>
          <p:cNvCxnSpPr/>
          <p:nvPr/>
        </p:nvCxnSpPr>
        <p:spPr>
          <a:xfrm>
            <a:off x="1984248" y="178308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7"/>
          <p:cNvSpPr/>
          <p:nvPr/>
        </p:nvSpPr>
        <p:spPr>
          <a:xfrm>
            <a:off x="2148840" y="1280160"/>
            <a:ext cx="1572768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2148840" y="1280160"/>
            <a:ext cx="1572768" cy="54864"/>
          </a:xfrm>
          <a:prstGeom prst="rect">
            <a:avLst/>
          </a:prstGeom>
          <a:solidFill>
            <a:srgbClr val="4361EE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2240280" y="1408176"/>
            <a:ext cx="13898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61E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4361EE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2240280" y="1938528"/>
            <a:ext cx="13898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Rational or LLM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7"/>
          <p:cNvCxnSpPr/>
          <p:nvPr/>
        </p:nvCxnSpPr>
        <p:spPr>
          <a:xfrm>
            <a:off x="3721608" y="178308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7"/>
          <p:cNvSpPr/>
          <p:nvPr/>
        </p:nvSpPr>
        <p:spPr>
          <a:xfrm>
            <a:off x="3886200" y="1280160"/>
            <a:ext cx="1572768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3977640" y="1408176"/>
            <a:ext cx="13898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Effort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3977640" y="1938528"/>
            <a:ext cx="13898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Tank or compete?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7"/>
          <p:cNvCxnSpPr/>
          <p:nvPr/>
        </p:nvCxnSpPr>
        <p:spPr>
          <a:xfrm>
            <a:off x="5458968" y="178308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7"/>
          <p:cNvSpPr/>
          <p:nvPr/>
        </p:nvSpPr>
        <p:spPr>
          <a:xfrm>
            <a:off x="5623560" y="1280160"/>
            <a:ext cx="1572768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5715000" y="1408176"/>
            <a:ext cx="13898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Game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Outcome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5715000" y="1938528"/>
            <a:ext cx="13898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Win probability model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7"/>
          <p:cNvCxnSpPr/>
          <p:nvPr/>
        </p:nvCxnSpPr>
        <p:spPr>
          <a:xfrm>
            <a:off x="7196328" y="178308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7"/>
          <p:cNvSpPr/>
          <p:nvPr/>
        </p:nvSpPr>
        <p:spPr>
          <a:xfrm>
            <a:off x="7360920" y="1280160"/>
            <a:ext cx="1572768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7452360" y="1408176"/>
            <a:ext cx="13898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Draft &amp;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Update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7452360" y="1938528"/>
            <a:ext cx="13898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Lottery → next season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2286000" y="2423160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↺  Repeat for 50 simulated seasons  ·  Seed fixed for reproducibility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411480" y="2834640"/>
            <a:ext cx="411480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411480" y="2834640"/>
            <a:ext cx="64008" cy="160020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594360" y="292608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Rational Agent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94360" y="3236976"/>
            <a:ext cx="3749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Maximizes expected utility analytically at each checkpoint. Computes E[D(k)] for each effort level and selects the dominant best response given opponent strategies.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754880" y="2834640"/>
            <a:ext cx="4114800" cy="1600200"/>
          </a:xfrm>
          <a:prstGeom prst="rect">
            <a:avLst/>
          </a:prstGeom>
          <a:solidFill>
            <a:srgbClr val="EEF2FF"/>
          </a:solidFill>
          <a:ln cap="flat" cmpd="sng" w="9525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4754880" y="2834640"/>
            <a:ext cx="64008" cy="1600200"/>
          </a:xfrm>
          <a:prstGeom prst="rect">
            <a:avLst/>
          </a:prstGeom>
          <a:solidFill>
            <a:srgbClr val="4361EE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4937760" y="292608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61E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361EE"/>
                </a:solidFill>
                <a:latin typeface="Calibri"/>
                <a:ea typeface="Calibri"/>
                <a:cs typeface="Calibri"/>
                <a:sym typeface="Calibri"/>
              </a:rPr>
              <a:t>LLM Agent  (Claude Haiku)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937760" y="3236976"/>
            <a:ext cx="3749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Receives game state + payoff structure in natural language. Returns effort level plus chain-of-thought reasoning. No hardcoded strategy — behavior emerges from incentives.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57200" y="464515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61EE"/>
              </a:buClr>
              <a:buSzPts val="950"/>
              <a:buFont typeface="Calibri"/>
              <a:buNone/>
            </a:pPr>
            <a:r>
              <a:rPr b="1" i="1" lang="en-US" sz="950" u="none" cap="none" strike="noStrike">
                <a:solidFill>
                  <a:srgbClr val="4361EE"/>
                </a:solidFill>
                <a:latin typeface="Calibri"/>
                <a:ea typeface="Calibri"/>
                <a:cs typeface="Calibri"/>
                <a:sym typeface="Calibri"/>
              </a:rPr>
              <a:t>More demanding than prior work </a:t>
            </a:r>
            <a:r>
              <a:rPr b="1" i="1" lang="en-US" sz="950">
                <a:solidFill>
                  <a:srgbClr val="4361EE"/>
                </a:solidFill>
                <a:latin typeface="Calibri"/>
                <a:ea typeface="Calibri"/>
                <a:cs typeface="Calibri"/>
                <a:sym typeface="Calibri"/>
              </a:rPr>
              <a:t>because</a:t>
            </a:r>
            <a:r>
              <a:rPr b="1" i="1" lang="en-US" sz="950">
                <a:solidFill>
                  <a:srgbClr val="4361E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en-US" sz="950" u="none" cap="none" strike="noStrike">
                <a:solidFill>
                  <a:srgbClr val="4361EE"/>
                </a:solidFill>
                <a:latin typeface="Calibri"/>
                <a:ea typeface="Calibri"/>
                <a:cs typeface="Calibri"/>
                <a:sym typeface="Calibri"/>
              </a:rPr>
              <a:t>mechanisms must survive agents who learn and adapt in real time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/>
          <p:nvPr/>
        </p:nvSpPr>
        <p:spPr>
          <a:xfrm>
            <a:off x="457200" y="146304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ACT II  ·  OUR APPROACH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457200" y="402336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50"/>
              <a:buFont typeface="Calibri"/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Teams trade off a known playoff value against lottery odds that vary by mechanism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8"/>
          <p:cNvCxnSpPr/>
          <p:nvPr/>
        </p:nvCxnSpPr>
        <p:spPr>
          <a:xfrm>
            <a:off x="457200" y="1097280"/>
            <a:ext cx="832104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8"/>
          <p:cNvSpPr/>
          <p:nvPr/>
        </p:nvSpPr>
        <p:spPr>
          <a:xfrm>
            <a:off x="8412480" y="489204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 / 15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457200" y="1234440"/>
            <a:ext cx="4846320" cy="274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685800" y="1389888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61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361EE"/>
                </a:solidFill>
                <a:latin typeface="Calibri"/>
                <a:ea typeface="Calibri"/>
                <a:cs typeface="Calibri"/>
                <a:sym typeface="Calibri"/>
              </a:rPr>
              <a:t>Win Probability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685800" y="1719072"/>
            <a:ext cx="4297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p(eᵢ | e₋ᵢ)  =  (eᵢ + δ) / Σⱼ (eⱼ + δ)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685800" y="2148840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eᵢ = effort of team i   ·   δ = 0.3  (effort floor — cannot fully throw a game)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8"/>
          <p:cNvCxnSpPr/>
          <p:nvPr/>
        </p:nvCxnSpPr>
        <p:spPr>
          <a:xfrm>
            <a:off x="685800" y="2578608"/>
            <a:ext cx="443484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8"/>
          <p:cNvSpPr/>
          <p:nvPr/>
        </p:nvSpPr>
        <p:spPr>
          <a:xfrm>
            <a:off x="685800" y="2697480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61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361EE"/>
                </a:solidFill>
                <a:latin typeface="Calibri"/>
                <a:ea typeface="Calibri"/>
                <a:cs typeface="Calibri"/>
                <a:sym typeface="Calibri"/>
              </a:rPr>
              <a:t>Team Utility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685800" y="3017520"/>
            <a:ext cx="4297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Uᵢ  =  V · 𝟙[playoff]  +  E[D(kᵢ)] · 𝟙[lottery]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685800" y="3438144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 = playoff value (baseline V = 50)   ·   D(k) = draft pick value for pick 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5440680" y="1234440"/>
            <a:ext cx="3429000" cy="274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5623560" y="1389888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61E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361EE"/>
                </a:solidFill>
                <a:latin typeface="Calibri"/>
                <a:ea typeface="Calibri"/>
                <a:cs typeface="Calibri"/>
                <a:sym typeface="Calibri"/>
              </a:rPr>
              <a:t>Draft Pick Values  D(k)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4" name="Google Shape;144;p8"/>
          <p:cNvGraphicFramePr/>
          <p:nvPr/>
        </p:nvGraphicFramePr>
        <p:xfrm>
          <a:off x="5623560" y="1737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{A7F2DB8E-8D47-40B9-910E-D9EF6D4CC11E}</a:tableStyleId>
              </a:tblPr>
              <a:tblGrid>
                <a:gridCol w="1531625"/>
                <a:gridCol w="1531625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Pick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 D(k)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62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#1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#3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#8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#14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45" name="Google Shape;145;p8"/>
          <p:cNvSpPr/>
          <p:nvPr/>
        </p:nvSpPr>
        <p:spPr>
          <a:xfrm>
            <a:off x="5440680" y="4096512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Playoff appearance value = 50 (baseline)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514550" y="3737792"/>
            <a:ext cx="2978400" cy="72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exactly what playoff and draft value are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/>
          <p:nvPr/>
        </p:nvSpPr>
        <p:spPr>
          <a:xfrm>
            <a:off x="88100" y="1113663"/>
            <a:ext cx="2811300" cy="19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on the model</a:t>
            </a:r>
            <a:br>
              <a:rPr lang="en-US"/>
            </a:br>
            <a:r>
              <a:rPr lang="en-US"/>
              <a:t>- How are things initialized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How do things progress </a:t>
            </a:r>
            <a:r>
              <a:rPr lang="en-US"/>
              <a:t>through</a:t>
            </a:r>
            <a:r>
              <a:rPr lang="en-US"/>
              <a:t> season and season to season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/>
          <p:nvPr/>
        </p:nvSpPr>
        <p:spPr>
          <a:xfrm>
            <a:off x="457200" y="146304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ACT II  ·  OUR APPROACH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57200" y="402336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50"/>
              <a:buFont typeface="Calibri"/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Seven conditions isolate the effect of each mechanism against rational agents, with an honest baseline throughout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10"/>
          <p:cNvCxnSpPr/>
          <p:nvPr/>
        </p:nvCxnSpPr>
        <p:spPr>
          <a:xfrm>
            <a:off x="457200" y="1097280"/>
            <a:ext cx="832104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10"/>
          <p:cNvSpPr/>
          <p:nvPr/>
        </p:nvSpPr>
        <p:spPr>
          <a:xfrm>
            <a:off x="8412480" y="489204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 / 15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2" name="Google Shape;162;p10"/>
          <p:cNvGraphicFramePr/>
          <p:nvPr/>
        </p:nvGraphicFramePr>
        <p:xfrm>
          <a:off x="45720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{A7F2DB8E-8D47-40B9-910E-D9EF6D4CC11E}</a:tableStyleId>
              </a:tblPr>
              <a:tblGrid>
                <a:gridCol w="685800"/>
                <a:gridCol w="4663450"/>
                <a:gridCol w="29718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Cond.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 + Mechanism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162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Rational agents, no lottery mechanism (full competition)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n-US" sz="950" u="none" cap="none" strike="noStrik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— pure effort equilibrium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Honest agents, NBA 2019 lottery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950"/>
                        <a:buFont typeface="Calibri"/>
                        <a:buNone/>
                      </a:pPr>
                      <a:r>
                        <a:rPr i="1" lang="en-US" sz="950" u="none" cap="none" strike="noStrik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Honest benchmark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8350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7835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Rational agents, NBA 2019 lottery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 quo with strategic teams ← key comparison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3C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361E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361E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Rational agents, NBA 3-2-1 mechanism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Reform candidate 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361E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361E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Rational agents, Weighted Loss mechanism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Reform candidate 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361E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361E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Rational agents, Bilevel mechanism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Reform candidate 3 ★ recommended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361E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361E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Rational agents, COLA mechanism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Reform candidate 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163" name="Google Shape;163;p10"/>
          <p:cNvSpPr/>
          <p:nvPr/>
        </p:nvSpPr>
        <p:spPr>
          <a:xfrm>
            <a:off x="457200" y="480060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Blue = reform mechanisms  ·  Amber = status quo strategic baseline  ·  50 seasons per condition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"/>
          <p:cNvSpPr/>
          <p:nvPr/>
        </p:nvSpPr>
        <p:spPr>
          <a:xfrm>
            <a:off x="457200" y="146304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ACT I  ·  THE PROBLEM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457200" y="402336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50"/>
              <a:buFont typeface="Calibri"/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NBA's reverse-order draft was designed to help weak teams — but it punishes winning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11"/>
          <p:cNvCxnSpPr/>
          <p:nvPr/>
        </p:nvCxnSpPr>
        <p:spPr>
          <a:xfrm>
            <a:off x="457200" y="1097280"/>
            <a:ext cx="832104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11"/>
          <p:cNvSpPr/>
          <p:nvPr/>
        </p:nvSpPr>
        <p:spPr>
          <a:xfrm>
            <a:off x="8412480" y="489204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 / 15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457200" y="1188720"/>
            <a:ext cx="5394960" cy="2926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4" name="Google Shape;174;p11"/>
          <p:cNvCxnSpPr/>
          <p:nvPr/>
        </p:nvCxnSpPr>
        <p:spPr>
          <a:xfrm>
            <a:off x="960120" y="3886200"/>
            <a:ext cx="461772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" name="Google Shape;175;p11"/>
          <p:cNvCxnSpPr/>
          <p:nvPr/>
        </p:nvCxnSpPr>
        <p:spPr>
          <a:xfrm>
            <a:off x="960120" y="1371600"/>
            <a:ext cx="0" cy="251460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11"/>
          <p:cNvSpPr/>
          <p:nvPr/>
        </p:nvSpPr>
        <p:spPr>
          <a:xfrm>
            <a:off x="73152" y="210312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Expected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960120" y="39776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Team Rank  (Worst → Best)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960120" y="1371600"/>
            <a:ext cx="1645920" cy="2514600"/>
          </a:xfrm>
          <a:prstGeom prst="rect">
            <a:avLst/>
          </a:prstGeom>
          <a:solidFill>
            <a:srgbClr val="DC2626">
              <a:alpha val="9019"/>
            </a:srgbClr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9" name="Google Shape;179;p11"/>
          <p:cNvCxnSpPr/>
          <p:nvPr/>
        </p:nvCxnSpPr>
        <p:spPr>
          <a:xfrm flipH="1" rot="10800000">
            <a:off x="1005840" y="1645920"/>
            <a:ext cx="1554480" cy="1920240"/>
          </a:xfrm>
          <a:prstGeom prst="straightConnector1">
            <a:avLst/>
          </a:prstGeom>
          <a:noFill/>
          <a:ln cap="flat" cmpd="sng" w="381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11"/>
          <p:cNvCxnSpPr/>
          <p:nvPr/>
        </p:nvCxnSpPr>
        <p:spPr>
          <a:xfrm>
            <a:off x="2560320" y="1645920"/>
            <a:ext cx="320040" cy="777240"/>
          </a:xfrm>
          <a:prstGeom prst="straightConnector1">
            <a:avLst/>
          </a:prstGeom>
          <a:noFill/>
          <a:ln cap="flat" cmpd="sng" w="25400">
            <a:solidFill>
              <a:srgbClr val="DC2626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81" name="Google Shape;181;p11"/>
          <p:cNvCxnSpPr/>
          <p:nvPr/>
        </p:nvCxnSpPr>
        <p:spPr>
          <a:xfrm flipH="1" rot="10800000">
            <a:off x="2880360" y="1234440"/>
            <a:ext cx="2468880" cy="1188720"/>
          </a:xfrm>
          <a:prstGeom prst="straightConnector1">
            <a:avLst/>
          </a:prstGeom>
          <a:noFill/>
          <a:ln cap="flat" cmpd="sng" w="381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11"/>
          <p:cNvSpPr/>
          <p:nvPr/>
        </p:nvSpPr>
        <p:spPr>
          <a:xfrm>
            <a:off x="2496312" y="1581912"/>
            <a:ext cx="146304" cy="146304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2331720" y="141732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← Kink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1024128" y="13716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61E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4361EE"/>
                </a:solidFill>
                <a:latin typeface="Calibri"/>
                <a:ea typeface="Calibri"/>
                <a:cs typeface="Calibri"/>
                <a:sym typeface="Calibri"/>
              </a:rPr>
              <a:t>Lottery value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4206240" y="137160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Playoff value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987552" y="361188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← Tank zone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5989320" y="1234440"/>
            <a:ext cx="2880360" cy="1143000"/>
          </a:xfrm>
          <a:prstGeom prst="rect">
            <a:avLst/>
          </a:prstGeom>
          <a:solidFill>
            <a:srgbClr val="EEF2FF"/>
          </a:solidFill>
          <a:ln cap="flat" cmpd="sng" w="127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"/>
          <p:cNvSpPr/>
          <p:nvPr/>
        </p:nvSpPr>
        <p:spPr>
          <a:xfrm>
            <a:off x="5989320" y="1234440"/>
            <a:ext cx="64008" cy="1143000"/>
          </a:xfrm>
          <a:prstGeom prst="rect">
            <a:avLst/>
          </a:prstGeom>
          <a:solidFill>
            <a:srgbClr val="4361EE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6172200" y="1325880"/>
            <a:ext cx="262432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"The Rockets deliberately lost in 1983 to draft Hakeem Olajuwon. Forty years later, teams are still doing it."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272149" y="1133850"/>
            <a:ext cx="5580000" cy="347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Chart of the the relationship between draft and playoff value </a:t>
            </a: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6078700" y="2655688"/>
            <a:ext cx="2811300" cy="19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 callout boxes</a:t>
            </a:r>
            <a:endParaRPr/>
          </a:p>
        </p:txBody>
      </p:sp>
      <p:pic>
        <p:nvPicPr>
          <p:cNvPr id="192" name="Picture 191" descr="fig5_pick_value_sched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05840"/>
            <a:ext cx="42062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"/>
          <p:cNvSpPr/>
          <p:nvPr/>
        </p:nvSpPr>
        <p:spPr>
          <a:xfrm>
            <a:off x="457200" y="146304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ACT III  ·  RESULTS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457200" y="402336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50"/>
              <a:buFont typeface="Calibri"/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Tanking spikes when playoff value falls below ~50 — teams near the bubble defect to the lottery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12"/>
          <p:cNvCxnSpPr/>
          <p:nvPr/>
        </p:nvCxnSpPr>
        <p:spPr>
          <a:xfrm>
            <a:off x="457200" y="1097280"/>
            <a:ext cx="832104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12"/>
          <p:cNvSpPr/>
          <p:nvPr/>
        </p:nvSpPr>
        <p:spPr>
          <a:xfrm>
            <a:off x="8412480" y="489204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 / 15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7086600" y="1234440"/>
            <a:ext cx="1783080" cy="1417320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"/>
          <p:cNvSpPr/>
          <p:nvPr/>
        </p:nvSpPr>
        <p:spPr>
          <a:xfrm>
            <a:off x="7086600" y="1234440"/>
            <a:ext cx="64008" cy="141732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7269480" y="1325880"/>
            <a:ext cx="1527048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Sharp drop between V=30 (43.8%) and V=50 (15.0%). When playoff value is low, even bubble teams prefer the lottery over competing.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7086600" y="2834640"/>
            <a:ext cx="1783080" cy="1188720"/>
          </a:xfrm>
          <a:prstGeom prst="rect">
            <a:avLst/>
          </a:prstGeom>
          <a:solidFill>
            <a:srgbClr val="EEF2FF"/>
          </a:solidFill>
          <a:ln cap="flat" cmpd="sng" w="127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"/>
          <p:cNvSpPr/>
          <p:nvPr/>
        </p:nvSpPr>
        <p:spPr>
          <a:xfrm>
            <a:off x="7086600" y="2834640"/>
            <a:ext cx="64008" cy="1188720"/>
          </a:xfrm>
          <a:prstGeom prst="rect">
            <a:avLst/>
          </a:prstGeom>
          <a:solidFill>
            <a:srgbClr val="4361EE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"/>
          <p:cNvSpPr/>
          <p:nvPr/>
        </p:nvSpPr>
        <p:spPr>
          <a:xfrm>
            <a:off x="7269480" y="2926080"/>
            <a:ext cx="152704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Above V=50, only clearly out-of-contention teams tank. Below it, bubble teams defect too — compounding the problem.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Picture 208" descr="fig4_playoff_value_sw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344168"/>
            <a:ext cx="621792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"/>
          <p:cNvSpPr/>
          <p:nvPr/>
        </p:nvSpPr>
        <p:spPr>
          <a:xfrm>
            <a:off x="457200" y="146304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ACT III  ·  RESULTS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457200" y="402336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50"/>
              <a:buFont typeface="Calibri"/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current NBA lottery produces 15% tanking — three reforms near-eliminate it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13"/>
          <p:cNvCxnSpPr/>
          <p:nvPr/>
        </p:nvCxnSpPr>
        <p:spPr>
          <a:xfrm>
            <a:off x="457200" y="1097280"/>
            <a:ext cx="832104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13"/>
          <p:cNvSpPr/>
          <p:nvPr/>
        </p:nvSpPr>
        <p:spPr>
          <a:xfrm>
            <a:off x="8412480" y="489204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 / 15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7086600" y="1234440"/>
            <a:ext cx="1783080" cy="1005840"/>
          </a:xfrm>
          <a:prstGeom prst="rect">
            <a:avLst/>
          </a:prstGeom>
          <a:solidFill>
            <a:srgbClr val="D1FAE5"/>
          </a:solidFill>
          <a:ln cap="flat" cmpd="sng" w="12700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"/>
          <p:cNvSpPr/>
          <p:nvPr/>
        </p:nvSpPr>
        <p:spPr>
          <a:xfrm>
            <a:off x="7086600" y="1234440"/>
            <a:ext cx="64008" cy="100584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"/>
          <p:cNvSpPr/>
          <p:nvPr/>
        </p:nvSpPr>
        <p:spPr>
          <a:xfrm>
            <a:off x="7269480" y="1325880"/>
            <a:ext cx="152704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Bilevel and COLA eliminate tanking entirely against adaptive rational agents (0.0%)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7086600" y="2423160"/>
            <a:ext cx="1783080" cy="1097280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3"/>
          <p:cNvSpPr/>
          <p:nvPr/>
        </p:nvSpPr>
        <p:spPr>
          <a:xfrm>
            <a:off x="7086600" y="2423160"/>
            <a:ext cx="64008" cy="109728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3"/>
          <p:cNvSpPr/>
          <p:nvPr/>
        </p:nvSpPr>
        <p:spPr>
          <a:xfrm>
            <a:off x="7269480" y="2514600"/>
            <a:ext cx="152704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NBA 2019 status quo: 15% of all game decisions are deliberate losses. This is the benchmark to beat.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7086600" y="3703320"/>
            <a:ext cx="1783080" cy="91440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3"/>
          <p:cNvSpPr/>
          <p:nvPr/>
        </p:nvSpPr>
        <p:spPr>
          <a:xfrm>
            <a:off x="7086600" y="3703320"/>
            <a:ext cx="64008" cy="9144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"/>
          <p:cNvSpPr/>
          <p:nvPr/>
        </p:nvSpPr>
        <p:spPr>
          <a:xfrm>
            <a:off x="7269480" y="3794760"/>
            <a:ext cx="152704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NBA 3-2-1 reduces tanking to 2.6% — meaningful improvement but tanking still present at equilibrium.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Picture 228" descr="fig1_tanking_by_mechani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344168"/>
            <a:ext cx="621792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"/>
          <p:cNvSpPr/>
          <p:nvPr/>
        </p:nvSpPr>
        <p:spPr>
          <a:xfrm>
            <a:off x="457200" y="146304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ACT III  ·  RESULTS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457200" y="402336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50"/>
              <a:buFont typeface="Calibri"/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Tanking under the NBA lottery actually improves competitive balance — the mechanism is working as designed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236;p14"/>
          <p:cNvCxnSpPr/>
          <p:nvPr/>
        </p:nvCxnSpPr>
        <p:spPr>
          <a:xfrm>
            <a:off x="457200" y="1097280"/>
            <a:ext cx="832104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14"/>
          <p:cNvSpPr/>
          <p:nvPr/>
        </p:nvSpPr>
        <p:spPr>
          <a:xfrm>
            <a:off x="8412480" y="489204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 / 15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7040880" y="1234440"/>
            <a:ext cx="1828800" cy="1417320"/>
          </a:xfrm>
          <a:prstGeom prst="rect">
            <a:avLst/>
          </a:prstGeom>
          <a:solidFill>
            <a:srgbClr val="EEF2FF"/>
          </a:solidFill>
          <a:ln cap="flat" cmpd="sng" w="127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4"/>
          <p:cNvSpPr/>
          <p:nvPr/>
        </p:nvSpPr>
        <p:spPr>
          <a:xfrm>
            <a:off x="7040880" y="1234440"/>
            <a:ext cx="64008" cy="1417320"/>
          </a:xfrm>
          <a:prstGeom prst="rect">
            <a:avLst/>
          </a:prstGeom>
          <a:solidFill>
            <a:srgbClr val="4361EE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4"/>
          <p:cNvSpPr/>
          <p:nvPr/>
        </p:nvSpPr>
        <p:spPr>
          <a:xfrm>
            <a:off x="7223760" y="1325880"/>
            <a:ext cx="1572768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NBA 2019 rational (0.381) is LOWER than honest (0.399). Lower Kendall-τ = better balance. Tanking sends picks to genuinely weak franchises.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7040880" y="2834640"/>
            <a:ext cx="1828800" cy="1143000"/>
          </a:xfrm>
          <a:prstGeom prst="rect">
            <a:avLst/>
          </a:prstGeom>
          <a:solidFill>
            <a:srgbClr val="D1FAE5"/>
          </a:solidFill>
          <a:ln cap="flat" cmpd="sng" w="12700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4"/>
          <p:cNvSpPr/>
          <p:nvPr/>
        </p:nvSpPr>
        <p:spPr>
          <a:xfrm>
            <a:off x="7040880" y="2834640"/>
            <a:ext cx="64008" cy="11430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4"/>
          <p:cNvSpPr/>
          <p:nvPr/>
        </p:nvSpPr>
        <p:spPr>
          <a:xfrm>
            <a:off x="7223760" y="2926080"/>
            <a:ext cx="157276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COLA: rational = honest (0.407). Mechanism fully decoupled from effort — identical outcomes regardless of strategy.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457200" y="4681728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Kendall-τ distance  (lower = better competitive balance — records align with true team strength)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Picture 246" descr="fig2_tau_by_mechani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344168"/>
            <a:ext cx="612648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"/>
          <p:cNvSpPr/>
          <p:nvPr/>
        </p:nvSpPr>
        <p:spPr>
          <a:xfrm>
            <a:off x="457200" y="146304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ACT III  ·  RESULTS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5"/>
          <p:cNvSpPr/>
          <p:nvPr/>
        </p:nvSpPr>
        <p:spPr>
          <a:xfrm>
            <a:off x="457200" y="402336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50"/>
              <a:buFont typeface="Calibri"/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One rational agent raises aggregate tanking from 0% to 0.4% — and the effect scales linearly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15"/>
          <p:cNvCxnSpPr/>
          <p:nvPr/>
        </p:nvCxnSpPr>
        <p:spPr>
          <a:xfrm>
            <a:off x="457200" y="1097280"/>
            <a:ext cx="832104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15"/>
          <p:cNvSpPr/>
          <p:nvPr/>
        </p:nvSpPr>
        <p:spPr>
          <a:xfrm>
            <a:off x="8412480" y="489204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 / 15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7086600" y="1234440"/>
            <a:ext cx="1783080" cy="1554480"/>
          </a:xfrm>
          <a:prstGeom prst="rect">
            <a:avLst/>
          </a:prstGeom>
          <a:solidFill>
            <a:srgbClr val="FEE2E2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5"/>
          <p:cNvSpPr/>
          <p:nvPr/>
        </p:nvSpPr>
        <p:spPr>
          <a:xfrm>
            <a:off x="7086600" y="1234440"/>
            <a:ext cx="64008" cy="155448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5"/>
          <p:cNvSpPr/>
          <p:nvPr/>
        </p:nvSpPr>
        <p:spPr>
          <a:xfrm>
            <a:off x="7269480" y="1325880"/>
            <a:ext cx="152704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1 rational agent in an otherwise honest 30-team league still causes measurable tanking (0.4%). The honest equilibrium is not self-enforcing.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7086600" y="2971800"/>
            <a:ext cx="1783080" cy="1097280"/>
          </a:xfrm>
          <a:prstGeom prst="rect">
            <a:avLst/>
          </a:prstGeom>
          <a:solidFill>
            <a:srgbClr val="EEF2FF"/>
          </a:solidFill>
          <a:ln cap="flat" cmpd="sng" w="127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5"/>
          <p:cNvSpPr/>
          <p:nvPr/>
        </p:nvSpPr>
        <p:spPr>
          <a:xfrm>
            <a:off x="7086600" y="2971800"/>
            <a:ext cx="64008" cy="1097280"/>
          </a:xfrm>
          <a:prstGeom prst="rect">
            <a:avLst/>
          </a:prstGeom>
          <a:solidFill>
            <a:srgbClr val="4361EE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5"/>
          <p:cNvSpPr/>
          <p:nvPr/>
        </p:nvSpPr>
        <p:spPr>
          <a:xfrm>
            <a:off x="7269480" y="3063240"/>
            <a:ext cx="152704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Any team willing to optimize against the incentive structure extracts value at the expense of its competitors.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Picture 263" descr="fig3_mixed_sw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344168"/>
            <a:ext cx="621792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6"/>
          <p:cNvSpPr/>
          <p:nvPr/>
        </p:nvSpPr>
        <p:spPr>
          <a:xfrm>
            <a:off x="457200" y="146304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ACT III  ·  RESULTS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457200" y="402336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50"/>
              <a:buFont typeface="Calibri"/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Claude Haiku spontaneously tanks under the NBA lottery — without being told to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p16"/>
          <p:cNvCxnSpPr/>
          <p:nvPr/>
        </p:nvCxnSpPr>
        <p:spPr>
          <a:xfrm>
            <a:off x="457200" y="1097280"/>
            <a:ext cx="832104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16"/>
          <p:cNvSpPr/>
          <p:nvPr/>
        </p:nvSpPr>
        <p:spPr>
          <a:xfrm>
            <a:off x="8412480" y="489204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 / 15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6"/>
          <p:cNvSpPr/>
          <p:nvPr/>
        </p:nvSpPr>
        <p:spPr>
          <a:xfrm>
            <a:off x="457200" y="1234440"/>
            <a:ext cx="4937760" cy="320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6"/>
          <p:cNvSpPr/>
          <p:nvPr/>
        </p:nvSpPr>
        <p:spPr>
          <a:xfrm>
            <a:off x="457200" y="1234440"/>
            <a:ext cx="4937760" cy="347472"/>
          </a:xfrm>
          <a:prstGeom prst="rect">
            <a:avLst/>
          </a:prstGeom>
          <a:solidFill>
            <a:srgbClr val="13162A"/>
          </a:solidFill>
          <a:ln cap="flat" cmpd="sng" w="12700">
            <a:solidFill>
              <a:srgbClr val="131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6"/>
          <p:cNvSpPr/>
          <p:nvPr/>
        </p:nvSpPr>
        <p:spPr>
          <a:xfrm>
            <a:off x="594360" y="1316736"/>
            <a:ext cx="4663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Sample LLM Reasoning  (Tanking Decision)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6"/>
          <p:cNvSpPr/>
          <p:nvPr/>
        </p:nvSpPr>
        <p:spPr>
          <a:xfrm>
            <a:off x="594360" y="1664208"/>
            <a:ext cx="46634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"At 14–18 we’re firmly out of playoff contention with 50 games left; minimizing effort maximizes losing to secure top-3 lottery odds. that competing at full effort only marginally improves our playoff odds. Given pick #1 is worth 100 versus a playoff appearance worth 50, the expected value of reducing effort to the floor (δ = 0.3) exceeds full effort by approximately 12 utility units.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optimal strategy is to reduce effort and maximize lottery position."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6"/>
          <p:cNvSpPr/>
          <p:nvPr/>
        </p:nvSpPr>
        <p:spPr>
          <a:xfrm>
            <a:off x="5577840" y="137160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Tanking Rate: LLM vs. Rational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6"/>
          <p:cNvSpPr/>
          <p:nvPr/>
        </p:nvSpPr>
        <p:spPr>
          <a:xfrm>
            <a:off x="457200" y="4572000"/>
            <a:ext cx="8412480" cy="438912"/>
          </a:xfrm>
          <a:prstGeom prst="rect">
            <a:avLst/>
          </a:prstGeom>
          <a:solidFill>
            <a:srgbClr val="EEF2FF"/>
          </a:solidFill>
          <a:ln cap="flat" cmpd="sng" w="127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6"/>
          <p:cNvSpPr/>
          <p:nvPr/>
        </p:nvSpPr>
        <p:spPr>
          <a:xfrm>
            <a:off x="457200" y="4572000"/>
            <a:ext cx="64008" cy="438912"/>
          </a:xfrm>
          <a:prstGeom prst="rect">
            <a:avLst/>
          </a:prstGeom>
          <a:solidFill>
            <a:srgbClr val="4361EE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6"/>
          <p:cNvSpPr/>
          <p:nvPr/>
        </p:nvSpPr>
        <p:spPr>
          <a:xfrm>
            <a:off x="640080" y="4663440"/>
            <a:ext cx="81564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Strategic tanking emerges from pure incentive reasoning — not hardcoded rules. LLM and rational agents converge on the same behavior.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Picture 282" descr="fig_llm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87452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62A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7"/>
          <p:cNvSpPr/>
          <p:nvPr/>
        </p:nvSpPr>
        <p:spPr>
          <a:xfrm>
            <a:off x="457200" y="146304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5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E3A5C"/>
                </a:solidFill>
                <a:latin typeface="Calibri"/>
                <a:ea typeface="Calibri"/>
                <a:cs typeface="Calibri"/>
                <a:sym typeface="Calibri"/>
              </a:rPr>
              <a:t>ACT IV  ·  SO WHAT?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8412480" y="489204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13 / 15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594360" y="420624"/>
            <a:ext cx="7955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single mechanism dominates</a:t>
            </a: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the right choice depends on what the NBA values most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457200" y="1298448"/>
            <a:ext cx="8366760" cy="384048"/>
          </a:xfrm>
          <a:prstGeom prst="rect">
            <a:avLst/>
          </a:prstGeom>
          <a:solidFill>
            <a:srgbClr val="0C0E1C"/>
          </a:solidFill>
          <a:ln cap="flat" cmpd="sng" w="12700">
            <a:solidFill>
              <a:srgbClr val="0C0E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7"/>
          <p:cNvSpPr/>
          <p:nvPr/>
        </p:nvSpPr>
        <p:spPr>
          <a:xfrm>
            <a:off x="594360" y="137160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Mechanism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7"/>
          <p:cNvSpPr/>
          <p:nvPr/>
        </p:nvSpPr>
        <p:spPr>
          <a:xfrm>
            <a:off x="2606040" y="1335024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Tanking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Eliminated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7"/>
          <p:cNvSpPr/>
          <p:nvPr/>
        </p:nvSpPr>
        <p:spPr>
          <a:xfrm>
            <a:off x="4114800" y="1335024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Draft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Efficiency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7"/>
          <p:cNvSpPr/>
          <p:nvPr/>
        </p:nvSpPr>
        <p:spPr>
          <a:xfrm>
            <a:off x="5623560" y="1335024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Simplicity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7132320" y="1335024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Transparency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7"/>
          <p:cNvSpPr/>
          <p:nvPr/>
        </p:nvSpPr>
        <p:spPr>
          <a:xfrm>
            <a:off x="457200" y="1719072"/>
            <a:ext cx="8366760" cy="502920"/>
          </a:xfrm>
          <a:prstGeom prst="rect">
            <a:avLst/>
          </a:prstGeom>
          <a:solidFill>
            <a:srgbClr val="16192E"/>
          </a:solidFill>
          <a:ln cap="flat" cmpd="sng" w="9525">
            <a:solidFill>
              <a:srgbClr val="1E24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7"/>
          <p:cNvSpPr/>
          <p:nvPr/>
        </p:nvSpPr>
        <p:spPr>
          <a:xfrm>
            <a:off x="594360" y="18288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NBA 2019 (status quo)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7"/>
          <p:cNvSpPr/>
          <p:nvPr/>
        </p:nvSpPr>
        <p:spPr>
          <a:xfrm>
            <a:off x="2953512" y="1879092"/>
            <a:ext cx="201168" cy="201168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7"/>
          <p:cNvSpPr/>
          <p:nvPr/>
        </p:nvSpPr>
        <p:spPr>
          <a:xfrm>
            <a:off x="4462272" y="1879092"/>
            <a:ext cx="201168" cy="201168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7"/>
          <p:cNvSpPr/>
          <p:nvPr/>
        </p:nvSpPr>
        <p:spPr>
          <a:xfrm>
            <a:off x="5971032" y="1879092"/>
            <a:ext cx="201168" cy="201168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7"/>
          <p:cNvSpPr/>
          <p:nvPr/>
        </p:nvSpPr>
        <p:spPr>
          <a:xfrm>
            <a:off x="7479792" y="1879092"/>
            <a:ext cx="201168" cy="201168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7"/>
          <p:cNvSpPr/>
          <p:nvPr/>
        </p:nvSpPr>
        <p:spPr>
          <a:xfrm>
            <a:off x="457200" y="2286000"/>
            <a:ext cx="8366760" cy="502920"/>
          </a:xfrm>
          <a:prstGeom prst="rect">
            <a:avLst/>
          </a:prstGeom>
          <a:solidFill>
            <a:srgbClr val="1A1E35"/>
          </a:solidFill>
          <a:ln cap="flat" cmpd="sng" w="9525">
            <a:solidFill>
              <a:srgbClr val="1E24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7"/>
          <p:cNvSpPr/>
          <p:nvPr/>
        </p:nvSpPr>
        <p:spPr>
          <a:xfrm>
            <a:off x="594360" y="239572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Bilevel 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7"/>
          <p:cNvSpPr/>
          <p:nvPr/>
        </p:nvSpPr>
        <p:spPr>
          <a:xfrm>
            <a:off x="2953512" y="2446020"/>
            <a:ext cx="201168" cy="201168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7"/>
          <p:cNvSpPr/>
          <p:nvPr/>
        </p:nvSpPr>
        <p:spPr>
          <a:xfrm>
            <a:off x="4462272" y="2446020"/>
            <a:ext cx="201168" cy="201168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7"/>
          <p:cNvSpPr/>
          <p:nvPr/>
        </p:nvSpPr>
        <p:spPr>
          <a:xfrm>
            <a:off x="5971032" y="2446020"/>
            <a:ext cx="201168" cy="201168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7"/>
          <p:cNvSpPr/>
          <p:nvPr/>
        </p:nvSpPr>
        <p:spPr>
          <a:xfrm>
            <a:off x="7479792" y="2446020"/>
            <a:ext cx="201168" cy="201168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7"/>
          <p:cNvSpPr/>
          <p:nvPr/>
        </p:nvSpPr>
        <p:spPr>
          <a:xfrm>
            <a:off x="457200" y="2852928"/>
            <a:ext cx="8366760" cy="502920"/>
          </a:xfrm>
          <a:prstGeom prst="rect">
            <a:avLst/>
          </a:prstGeom>
          <a:solidFill>
            <a:srgbClr val="16192E"/>
          </a:solidFill>
          <a:ln cap="flat" cmpd="sng" w="9525">
            <a:solidFill>
              <a:srgbClr val="1E24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7"/>
          <p:cNvSpPr/>
          <p:nvPr/>
        </p:nvSpPr>
        <p:spPr>
          <a:xfrm>
            <a:off x="594360" y="296265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2953512" y="3012948"/>
            <a:ext cx="201168" cy="201168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7"/>
          <p:cNvSpPr/>
          <p:nvPr/>
        </p:nvSpPr>
        <p:spPr>
          <a:xfrm>
            <a:off x="4462272" y="3012948"/>
            <a:ext cx="201168" cy="201168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7"/>
          <p:cNvSpPr/>
          <p:nvPr/>
        </p:nvSpPr>
        <p:spPr>
          <a:xfrm>
            <a:off x="5971032" y="3012948"/>
            <a:ext cx="201168" cy="201168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7"/>
          <p:cNvSpPr/>
          <p:nvPr/>
        </p:nvSpPr>
        <p:spPr>
          <a:xfrm>
            <a:off x="7479792" y="3012948"/>
            <a:ext cx="201168" cy="201168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7"/>
          <p:cNvSpPr/>
          <p:nvPr/>
        </p:nvSpPr>
        <p:spPr>
          <a:xfrm>
            <a:off x="457200" y="3419856"/>
            <a:ext cx="8366760" cy="502920"/>
          </a:xfrm>
          <a:prstGeom prst="rect">
            <a:avLst/>
          </a:prstGeom>
          <a:solidFill>
            <a:srgbClr val="1A1E35"/>
          </a:solidFill>
          <a:ln cap="flat" cmpd="sng" w="9525">
            <a:solidFill>
              <a:srgbClr val="1E24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7"/>
          <p:cNvSpPr/>
          <p:nvPr/>
        </p:nvSpPr>
        <p:spPr>
          <a:xfrm>
            <a:off x="594360" y="352958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Weighted Loss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2953512" y="3579876"/>
            <a:ext cx="201168" cy="201168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7"/>
          <p:cNvSpPr/>
          <p:nvPr/>
        </p:nvSpPr>
        <p:spPr>
          <a:xfrm>
            <a:off x="4462272" y="3579876"/>
            <a:ext cx="201168" cy="201168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7"/>
          <p:cNvSpPr/>
          <p:nvPr/>
        </p:nvSpPr>
        <p:spPr>
          <a:xfrm>
            <a:off x="5971032" y="3579876"/>
            <a:ext cx="201168" cy="201168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7"/>
          <p:cNvSpPr/>
          <p:nvPr/>
        </p:nvSpPr>
        <p:spPr>
          <a:xfrm>
            <a:off x="7479792" y="3579876"/>
            <a:ext cx="201168" cy="201168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7"/>
          <p:cNvSpPr/>
          <p:nvPr/>
        </p:nvSpPr>
        <p:spPr>
          <a:xfrm>
            <a:off x="457200" y="3986784"/>
            <a:ext cx="8366760" cy="502920"/>
          </a:xfrm>
          <a:prstGeom prst="rect">
            <a:avLst/>
          </a:prstGeom>
          <a:solidFill>
            <a:srgbClr val="16192E"/>
          </a:solidFill>
          <a:ln cap="flat" cmpd="sng" w="9525">
            <a:solidFill>
              <a:srgbClr val="1E24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7"/>
          <p:cNvSpPr/>
          <p:nvPr/>
        </p:nvSpPr>
        <p:spPr>
          <a:xfrm>
            <a:off x="594360" y="409651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NBA 3-2-1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2953512" y="4146804"/>
            <a:ext cx="201168" cy="201168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"/>
          <p:cNvSpPr/>
          <p:nvPr/>
        </p:nvSpPr>
        <p:spPr>
          <a:xfrm>
            <a:off x="4462272" y="4146804"/>
            <a:ext cx="201168" cy="201168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7"/>
          <p:cNvSpPr/>
          <p:nvPr/>
        </p:nvSpPr>
        <p:spPr>
          <a:xfrm>
            <a:off x="5971032" y="4146804"/>
            <a:ext cx="201168" cy="201168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7"/>
          <p:cNvSpPr/>
          <p:nvPr/>
        </p:nvSpPr>
        <p:spPr>
          <a:xfrm>
            <a:off x="7479792" y="4146804"/>
            <a:ext cx="201168" cy="201168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7"/>
          <p:cNvSpPr/>
          <p:nvPr/>
        </p:nvSpPr>
        <p:spPr>
          <a:xfrm>
            <a:off x="1645920" y="4736592"/>
            <a:ext cx="164592" cy="164592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7"/>
          <p:cNvSpPr/>
          <p:nvPr/>
        </p:nvSpPr>
        <p:spPr>
          <a:xfrm>
            <a:off x="1874520" y="471830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Strong / Eliminates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4206240" y="4736592"/>
            <a:ext cx="164592" cy="164592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7"/>
          <p:cNvSpPr/>
          <p:nvPr/>
        </p:nvSpPr>
        <p:spPr>
          <a:xfrm>
            <a:off x="4434840" y="471830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Partial / Mixed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6766560" y="4736592"/>
            <a:ext cx="164592" cy="164592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7"/>
          <p:cNvSpPr/>
          <p:nvPr/>
        </p:nvSpPr>
        <p:spPr>
          <a:xfrm>
            <a:off x="6995160" y="471830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Weak / Fails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C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8"/>
          <p:cNvSpPr/>
          <p:nvPr/>
        </p:nvSpPr>
        <p:spPr>
          <a:xfrm>
            <a:off x="457200" y="146304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ACT IV  ·  SO WHAT?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8"/>
          <p:cNvSpPr/>
          <p:nvPr/>
        </p:nvSpPr>
        <p:spPr>
          <a:xfrm>
            <a:off x="457200" y="402336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950"/>
              <a:buFont typeface="Calibri"/>
              <a:buNone/>
            </a:pPr>
            <a:r>
              <a:rPr b="1" i="0" lang="en-US" sz="1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bilevel mechanism offers the best combination of tanking elimination, draft efficiency, and practical feasibility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0" name="Google Shape;340;p18"/>
          <p:cNvCxnSpPr/>
          <p:nvPr/>
        </p:nvCxnSpPr>
        <p:spPr>
          <a:xfrm>
            <a:off x="457200" y="1097280"/>
            <a:ext cx="832104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p18"/>
          <p:cNvSpPr/>
          <p:nvPr/>
        </p:nvSpPr>
        <p:spPr>
          <a:xfrm>
            <a:off x="8412480" y="489204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14 / 15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457200" y="1234440"/>
            <a:ext cx="8321040" cy="896112"/>
          </a:xfrm>
          <a:prstGeom prst="rect">
            <a:avLst/>
          </a:prstGeom>
          <a:solidFill>
            <a:srgbClr val="13162A"/>
          </a:solidFill>
          <a:ln cap="flat" cmpd="sng" w="12700">
            <a:solidFill>
              <a:srgbClr val="13162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8"/>
          <p:cNvSpPr/>
          <p:nvPr/>
        </p:nvSpPr>
        <p:spPr>
          <a:xfrm>
            <a:off x="457200" y="1234440"/>
            <a:ext cx="82296" cy="896112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8"/>
          <p:cNvSpPr/>
          <p:nvPr/>
        </p:nvSpPr>
        <p:spPr>
          <a:xfrm>
            <a:off x="685800" y="1417320"/>
            <a:ext cx="7863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Recommendation: Adopt the bilevel mechanism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457200" y="2286000"/>
            <a:ext cx="2651760" cy="2011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8"/>
          <p:cNvSpPr/>
          <p:nvPr/>
        </p:nvSpPr>
        <p:spPr>
          <a:xfrm>
            <a:off x="457200" y="2286000"/>
            <a:ext cx="2651760" cy="64008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8"/>
          <p:cNvSpPr/>
          <p:nvPr/>
        </p:nvSpPr>
        <p:spPr>
          <a:xfrm>
            <a:off x="640080" y="2450592"/>
            <a:ext cx="23042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Tanking Eliminated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8"/>
          <p:cNvSpPr/>
          <p:nvPr/>
        </p:nvSpPr>
        <p:spPr>
          <a:xfrm>
            <a:off x="640080" y="2816352"/>
            <a:ext cx="2304288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0.0% tanking rate against adaptive rational agents — the only mechanism that fully survives strategic optimization.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3264408" y="2286000"/>
            <a:ext cx="2651760" cy="2011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8"/>
          <p:cNvSpPr/>
          <p:nvPr/>
        </p:nvSpPr>
        <p:spPr>
          <a:xfrm>
            <a:off x="3264408" y="2286000"/>
            <a:ext cx="2651760" cy="64008"/>
          </a:xfrm>
          <a:prstGeom prst="rect">
            <a:avLst/>
          </a:prstGeom>
          <a:solidFill>
            <a:srgbClr val="4361EE"/>
          </a:solidFill>
          <a:ln cap="flat" cmpd="sng" w="12700">
            <a:solidFill>
              <a:srgbClr val="436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8"/>
          <p:cNvSpPr/>
          <p:nvPr/>
        </p:nvSpPr>
        <p:spPr>
          <a:xfrm>
            <a:off x="3447288" y="2450592"/>
            <a:ext cx="23042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61E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361EE"/>
                </a:solidFill>
                <a:latin typeface="Calibri"/>
                <a:ea typeface="Calibri"/>
                <a:cs typeface="Calibri"/>
                <a:sym typeface="Calibri"/>
              </a:rPr>
              <a:t>Draft Efficiency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3447288" y="2816352"/>
            <a:ext cx="2304288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Best pick quality for the weakest skill quartile: avg pick 6.99 vs. 7.58 under the current NBA system (+8% improvement).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6071616" y="2286000"/>
            <a:ext cx="2651760" cy="2011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8"/>
          <p:cNvSpPr/>
          <p:nvPr/>
        </p:nvSpPr>
        <p:spPr>
          <a:xfrm>
            <a:off x="6071616" y="2286000"/>
            <a:ext cx="2651760" cy="6400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8"/>
          <p:cNvSpPr/>
          <p:nvPr/>
        </p:nvSpPr>
        <p:spPr>
          <a:xfrm>
            <a:off x="6254496" y="2450592"/>
            <a:ext cx="230428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Practical Feasibility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6254496" y="2816352"/>
            <a:ext cx="2304288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Requires only a publicly announced breakpoint date. No multi-year CBA renegotiation or new infrastructure required.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457200" y="4453128"/>
            <a:ext cx="8321040" cy="45720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CD3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8"/>
          <p:cNvSpPr/>
          <p:nvPr/>
        </p:nvSpPr>
        <p:spPr>
          <a:xfrm>
            <a:off x="457200" y="4453128"/>
            <a:ext cx="64008" cy="4572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8"/>
          <p:cNvSpPr/>
          <p:nvPr/>
        </p:nvSpPr>
        <p:spPr>
          <a:xfrm>
            <a:off x="640080" y="454456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Honest caveat: COLA provides a stronger theoretical incentive-compatibility guarantee — but requires multi-year adoption the NBA has historically resisted.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62A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9"/>
          <p:cNvSpPr/>
          <p:nvPr/>
        </p:nvSpPr>
        <p:spPr>
          <a:xfrm>
            <a:off x="457200" y="146304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5C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2E3A5C"/>
                </a:solidFill>
                <a:latin typeface="Calibri"/>
                <a:ea typeface="Calibri"/>
                <a:cs typeface="Calibri"/>
                <a:sym typeface="Calibri"/>
              </a:rPr>
              <a:t>ACT IV  ·  SO WHAT?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8412480" y="489204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15 / 15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9"/>
          <p:cNvSpPr/>
          <p:nvPr/>
        </p:nvSpPr>
        <p:spPr>
          <a:xfrm>
            <a:off x="594360" y="420624"/>
            <a:ext cx="79552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Mechanism design can fix tanking — but the Banchio impossibility means there is </a:t>
            </a: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tradeoff between information completeness and tanking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9"/>
          <p:cNvSpPr/>
          <p:nvPr/>
        </p:nvSpPr>
        <p:spPr>
          <a:xfrm>
            <a:off x="457200" y="1389888"/>
            <a:ext cx="2670048" cy="3246120"/>
          </a:xfrm>
          <a:prstGeom prst="rect">
            <a:avLst/>
          </a:prstGeom>
          <a:solidFill>
            <a:srgbClr val="161A30"/>
          </a:solidFill>
          <a:ln cap="flat" cmpd="sng" w="9525">
            <a:solidFill>
              <a:srgbClr val="1F24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9"/>
          <p:cNvSpPr/>
          <p:nvPr/>
        </p:nvSpPr>
        <p:spPr>
          <a:xfrm>
            <a:off x="457200" y="1389888"/>
            <a:ext cx="2670048" cy="64008"/>
          </a:xfrm>
          <a:prstGeom prst="rect">
            <a:avLst/>
          </a:prstGeom>
          <a:solidFill>
            <a:srgbClr val="7B9CF5"/>
          </a:solidFill>
          <a:ln cap="flat" cmpd="sng" w="12700">
            <a:solidFill>
              <a:srgbClr val="7B9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9"/>
          <p:cNvSpPr/>
          <p:nvPr/>
        </p:nvSpPr>
        <p:spPr>
          <a:xfrm>
            <a:off x="621792" y="1517904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9CF5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7B9CF5"/>
                </a:solidFill>
                <a:latin typeface="Calibri"/>
                <a:ea typeface="Calibri"/>
                <a:cs typeface="Calibri"/>
                <a:sym typeface="Calibri"/>
              </a:rPr>
              <a:t>What We Found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621792" y="1938528"/>
            <a:ext cx="2340864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A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9ABF"/>
                </a:solidFill>
                <a:latin typeface="Calibri"/>
                <a:ea typeface="Calibri"/>
                <a:cs typeface="Calibri"/>
                <a:sym typeface="Calibri"/>
              </a:rPr>
              <a:t>—  Tanking drops from 15% → 0% under bilevel and COLA against adaptive agents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621792" y="2798064"/>
            <a:ext cx="2340864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A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9ABF"/>
                </a:solidFill>
                <a:latin typeface="Calibri"/>
                <a:ea typeface="Calibri"/>
                <a:cs typeface="Calibri"/>
                <a:sym typeface="Calibri"/>
              </a:rPr>
              <a:t>—  Tau paradox: strategic tanking actually improves competitive balance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9"/>
          <p:cNvSpPr/>
          <p:nvPr/>
        </p:nvSpPr>
        <p:spPr>
          <a:xfrm>
            <a:off x="621792" y="3657600"/>
            <a:ext cx="2340864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A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9ABF"/>
                </a:solidFill>
                <a:latin typeface="Calibri"/>
                <a:ea typeface="Calibri"/>
                <a:cs typeface="Calibri"/>
                <a:sym typeface="Calibri"/>
              </a:rPr>
              <a:t>—  Just 1 rational agent is sufficient to start the cascade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9"/>
          <p:cNvSpPr/>
          <p:nvPr/>
        </p:nvSpPr>
        <p:spPr>
          <a:xfrm>
            <a:off x="3273552" y="1389888"/>
            <a:ext cx="2670048" cy="3246120"/>
          </a:xfrm>
          <a:prstGeom prst="rect">
            <a:avLst/>
          </a:prstGeom>
          <a:solidFill>
            <a:srgbClr val="161A30"/>
          </a:solidFill>
          <a:ln cap="flat" cmpd="sng" w="9525">
            <a:solidFill>
              <a:srgbClr val="1F24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9"/>
          <p:cNvSpPr/>
          <p:nvPr/>
        </p:nvSpPr>
        <p:spPr>
          <a:xfrm>
            <a:off x="3273552" y="1389888"/>
            <a:ext cx="2670048" cy="64008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9"/>
          <p:cNvSpPr/>
          <p:nvPr/>
        </p:nvSpPr>
        <p:spPr>
          <a:xfrm>
            <a:off x="3438144" y="1517904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What It Means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9"/>
          <p:cNvSpPr/>
          <p:nvPr/>
        </p:nvSpPr>
        <p:spPr>
          <a:xfrm>
            <a:off x="3438144" y="1938528"/>
            <a:ext cx="2340864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A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9ABF"/>
                </a:solidFill>
                <a:latin typeface="Calibri"/>
                <a:ea typeface="Calibri"/>
                <a:cs typeface="Calibri"/>
                <a:sym typeface="Calibri"/>
              </a:rPr>
              <a:t>—  Reform is achievable — even against agents who learn and adapt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3438144" y="2798064"/>
            <a:ext cx="2340864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A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9ABF"/>
                </a:solidFill>
                <a:latin typeface="Calibri"/>
                <a:ea typeface="Calibri"/>
                <a:cs typeface="Calibri"/>
                <a:sym typeface="Calibri"/>
              </a:rPr>
              <a:t>—  Redistribution and competitive incentives can be aligned simultaneously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9"/>
          <p:cNvSpPr/>
          <p:nvPr/>
        </p:nvSpPr>
        <p:spPr>
          <a:xfrm>
            <a:off x="3438144" y="3657600"/>
            <a:ext cx="2340864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A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9ABF"/>
                </a:solidFill>
                <a:latin typeface="Calibri"/>
                <a:ea typeface="Calibri"/>
                <a:cs typeface="Calibri"/>
                <a:sym typeface="Calibri"/>
              </a:rPr>
              <a:t>—  Self-enforcement requires structural change, not just rule adjustments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9"/>
          <p:cNvSpPr/>
          <p:nvPr/>
        </p:nvSpPr>
        <p:spPr>
          <a:xfrm>
            <a:off x="6089904" y="1389888"/>
            <a:ext cx="2670048" cy="3246120"/>
          </a:xfrm>
          <a:prstGeom prst="rect">
            <a:avLst/>
          </a:prstGeom>
          <a:solidFill>
            <a:srgbClr val="161A30"/>
          </a:solidFill>
          <a:ln cap="flat" cmpd="sng" w="9525">
            <a:solidFill>
              <a:srgbClr val="1F24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9"/>
          <p:cNvSpPr/>
          <p:nvPr/>
        </p:nvSpPr>
        <p:spPr>
          <a:xfrm>
            <a:off x="6089904" y="1389888"/>
            <a:ext cx="2670048" cy="6400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9"/>
          <p:cNvSpPr/>
          <p:nvPr/>
        </p:nvSpPr>
        <p:spPr>
          <a:xfrm>
            <a:off x="6254496" y="1517904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Open Questions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9"/>
          <p:cNvSpPr/>
          <p:nvPr/>
        </p:nvSpPr>
        <p:spPr>
          <a:xfrm>
            <a:off x="6254496" y="1938528"/>
            <a:ext cx="2340864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A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9ABF"/>
                </a:solidFill>
                <a:latin typeface="Calibri"/>
                <a:ea typeface="Calibri"/>
                <a:cs typeface="Calibri"/>
                <a:sym typeface="Calibri"/>
              </a:rPr>
              <a:t>—  Does this hold in generational draft years with outlier talent?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9"/>
          <p:cNvSpPr/>
          <p:nvPr/>
        </p:nvSpPr>
        <p:spPr>
          <a:xfrm>
            <a:off x="6254496" y="2798064"/>
            <a:ext cx="2340864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A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9ABF"/>
                </a:solidFill>
                <a:latin typeface="Calibri"/>
                <a:ea typeface="Calibri"/>
                <a:cs typeface="Calibri"/>
                <a:sym typeface="Calibri"/>
              </a:rPr>
              <a:t>—  What is the socially optimal tanking level, if not zero?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6254496" y="3657600"/>
            <a:ext cx="2340864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AB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9ABF"/>
                </a:solidFill>
                <a:latin typeface="Calibri"/>
                <a:ea typeface="Calibri"/>
                <a:cs typeface="Calibri"/>
                <a:sym typeface="Calibri"/>
              </a:rPr>
              <a:t>—  Can LLM agents model team social dynamics and front-office politics?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6" name="Google Shape;386;p19"/>
          <p:cNvCxnSpPr/>
          <p:nvPr/>
        </p:nvCxnSpPr>
        <p:spPr>
          <a:xfrm>
            <a:off x="457200" y="4828032"/>
            <a:ext cx="8366760" cy="0"/>
          </a:xfrm>
          <a:prstGeom prst="straightConnector1">
            <a:avLst/>
          </a:prstGeom>
          <a:noFill/>
          <a:ln cap="flat" cmpd="sng" w="9525">
            <a:solidFill>
              <a:srgbClr val="1F24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7" name="Google Shape;387;p19"/>
          <p:cNvSpPr/>
          <p:nvPr/>
        </p:nvSpPr>
        <p:spPr>
          <a:xfrm>
            <a:off x="457200" y="4892040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3A5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2E3A5C"/>
                </a:solidFill>
                <a:latin typeface="Calibri"/>
                <a:ea typeface="Calibri"/>
                <a:cs typeface="Calibri"/>
                <a:sym typeface="Calibri"/>
              </a:rPr>
              <a:t>Grant Valentine  ·  Kartik Dhinakaran  ·  Mechanism Design  ·  May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9"/>
          <p:cNvSpPr/>
          <p:nvPr/>
        </p:nvSpPr>
        <p:spPr>
          <a:xfrm>
            <a:off x="314150" y="1412775"/>
            <a:ext cx="8561700" cy="324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 and follow up questions</a:t>
            </a:r>
            <a:endParaRPr/>
          </a:p>
        </p:txBody>
      </p:sp>
      <p:sp>
        <p:nvSpPr>
          <p:cNvPr id="389" name="Google Shape;389;p19"/>
          <p:cNvSpPr/>
          <p:nvPr/>
        </p:nvSpPr>
        <p:spPr>
          <a:xfrm>
            <a:off x="6221625" y="1261863"/>
            <a:ext cx="2811300" cy="19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that the </a:t>
            </a:r>
            <a:r>
              <a:rPr lang="en-US"/>
              <a:t>theorem</a:t>
            </a:r>
            <a:r>
              <a:rPr lang="en-US"/>
              <a:t> shows nobody can have a tanking free draft while running the whole season.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